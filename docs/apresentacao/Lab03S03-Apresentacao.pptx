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 trabalho" id="{8fb8f00f-edfa-3dc8-8bfe-16f2960b1209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Oficina" id="{7841427f-6c0e-7c37-4b4f-9c9ea3f80e68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 tarde, eu sou o Lucas e vou apresentar o Sistema de Moeda Estudantil, o projeto do Laboratório 3. Em cerca de dez minutos eu mostro o que foi construído, a aplicação funcionando e, como numa oficina, as tecnologias que usei e como usar cada uma.
[Tempo: 0:20 | Dica: Sorria, olhe para a turma e não leia o slide. Diga o nome do projeto e o que vem pela frente.]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ideia é reconhecer o mérito dos alunos. O professor recebe mil moedas por semestre e envia aos alunos com uma mensagem explicando o motivo. O aluno acumula as moedas e troca por vantagens oferecidas por empresas parceiras. A empresa cadastra a vantagem com foto e custo e confere o código do cupom. Todos entram com login e senha, e o sistema manda e-mails automáticos. Cobri todos os requisitos do enunciado.
[Tempo: 0:50 | Dica: Aponte para os três cartões da esquerda para a direita, seguindo as setas. Termine na faixa dos e-mails.]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Segui o padrão MVC em camadas. O React é a View, o FastAPI é o Controller, os serviços e as entidades formam o Model e a persistência fica com repositórios, SQLAlchemy e PostgreSQL. Cada camada só conversa com a de baixo, por interfaces. Por isso eu consigo testar as regras sem banco e trocar o banco sem mexer nelas. O e-mail é um sistema externo ligado por uma interface.
[Tempo: 0:50 | Dica: Percorra o diagrama de cima para baixo com o dedo ou o ponteiro. Se perguntarem, o diagrama de classes está no README.]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a aplicação funcionando. À esquerda o cadastro do aluno, com validação em português por campo. No meio a empresa cadastrando uma vantagem: descrição, custo e a foto do produto. À direita a lista das vantagens da empresa. Cada perfil só enxerga as telas dele: a empresa não acessa o extrato e o aluno não acessa o envio de moedas.
[Tempo: 0:55 | Dica: Se for fazer a demonstração ao vivo, é aqui: cadastre uma empresa e uma vantagem (roteiro no guia). Senão, narre os prints.]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Agora o coração do sistema. O professor escolhe o aluno, informa o valor e o motivo, que é obrigatório. O saldo é conferido antes e o aluno recebe um e-mail. Do lado do aluno, o catálogo mostra as vantagens com foto e custo. Ao resgatar, o saldo é descontado e o sistema gera um código de cupom. O botão fica desabilitado quando o saldo não cobre o custo.
[Tempo: 0:55 | Dica: Destaque dois pontos: o motivo obrigatório e o código do cupom na mensagem de sucesso.]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extrato do aluno mostra o saldo e cada movimentação: o que entrou, em verde, e o que saiu, em vermelho. No resgate saem dois e-mails com o mesmo código: o cupom para o aluno e a conferência para a empresa. O envio usa o SMTP do Gmail configurado no arquivo .env. Sem credenciais, o texto aparece no log da API e nada é enviado.
[Tempo: 0:45 | Dica: Seja transparente: o envio real pelo Gmail depende da senha de aplicativo; nos testes usei um SMTP simulado.]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Agora a parte de oficina. Começando pelo Docker Compose. Ele sobe o banco, a API e o front com um único comando. Na prática: descrevo os serviços em um arquivo, rodo docker compose up, e pronto, o sistema está no ar. A API só inicia depois que o banco está saudável e, ao subir, aplica as migrações e a carga inicial. Quem baixar o projeto não precisa instalar Python, Node ou PostgreSQL.
[Tempo: 0:45 | Dica: Mostre os comandos do slide; são os mesmos que usará para rodar a demonstração.]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FastAPI cria APIs REST em Python. Cada rota é uma função com um decorador. O Pydantic valida os dados que chegam: o corpo da requisição já vem como um objeto tipado, e erros viram mensagens em português. O Depends injeta o serviço e o usuário logado, e é ali que eu confiro o perfil. De graça, ele gera a documentação em barra docs.
[Tempo: 0:50 | Dica: Aponte o decorador, o schema do corpo e o Depends no código. Cite http://localhost:8000/docs.]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a camada de persistência usei o padrão Repository sobre o ORM SQLAlchemy. O ORM transforma classes em tabelas. O serviço não conhece o banco: ele recebe uma interface de repositório, e o repositório concreto faz as consultas. Isso permite testar com repositórios falsos em memória. O Alembic versiona o esquema em migrações, e o saldo é protegido com uma trava de linha, o for update, para dois envios ao mesmo tempo não gastarem o mesmo saldo. Eu testei isso com envios simultâneos.
[Tempo: 0:55 | Dica: Se sobrar tempo, mostre o diagrama entidade-relacionamento do README. O ponto forte é a trava de saldo.]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login funciona assim: a senha é guardada com bcrypt, só o hash com salt vai para o banco. No login o servidor confere a senha e devolve um token JWT assinado, com validade de duas horas. O front guarda o token e envia em todas as requisições no cabeçalho Authorization. Cada rota confere o perfil: aluno, professor ou empresa. Token inválido ou vencido volta para o login.
[Tempo: 0:45 | Dica: Reforce que o servidor não guarda sessão e que a senha nunca fica legível.]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front uso React com TypeScript. Cada tela é um componente e a lógica fica em hooks, como o de enviar moedas. O Vite compila e serve a aplicação rápido. O Tailwind estiliza com classes utilitárias direto no componente, sem arquivo de CSS solto. O exemplo é o guarda de rotas: quem não entrou vai para o login, e quem tem outro perfil volta ao início.
[Tempo: 0:50 | Dica: Mostre o exemplo do RotaProtegida e as classes do botão. Cite os comandos npm run dev e npm test.]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 fechar, a qualidade. São mais de duzentos testes automáticos no back-end, cento e quarenta e sete no front-end e quarenta e seis verificações no navegador real, que percorrem o sistema inteiro. Também testei envios simultâneos contra o banco real e fiz auditoria de dependências. O que ficou como próximo passo: agendar o crédito do semestre e validar o envio real pelo Gmail. O código e as instruções estão no GitHub. Obrigado, e fico à disposição para perguntas.
[Tempo: 0:45 | Dica: Deixe este slide na tela durante as perguntas.]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828800"/>
            <a:ext cx="1051560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611880"/>
            <a:ext cx="1051560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A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28600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65760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82880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600" b="1" dirty="0">
                <a:solidFill>
                  <a:schemeClr val="bg1"/>
                </a:solidFill>
              </a:rPr>
              <a:t>Sistema de Moeda Estudantil</a:t>
            </a:r>
            <a:endParaRPr lang="en-US" sz="5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61188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bg1"/>
                </a:solidFill>
              </a:rPr>
              <a:t>Laboratório de Desenvolvimento de Software — Sprint 3</a:t>
            </a:r>
            <a:endParaRPr lang="en-US" sz="20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bg2"/>
                </a:solidFill>
              </a:rPr>
              <a:t>O que foi feito e uma oficina rápida das tecnologias</a:t>
            </a:r>
            <a:endParaRPr lang="en-US" sz="20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bg2"/>
                </a:solidFill>
              </a:rPr>
              <a:t> </a:t>
            </a:r>
            <a:endParaRPr lang="en-US" sz="20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bg1"/>
                </a:solidFill>
              </a:rPr>
              <a:t>Lucas Lima Magalhães Lafetá Chaves</a:t>
            </a:r>
            <a:endParaRPr lang="en-US" sz="20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chemeClr val="bg2"/>
                </a:solidFill>
              </a:rPr>
              <a:t>Engenharia de Software — PUC Minas  |  Profa. Milena Menezes Adão</a:t>
            </a:r>
            <a:endParaRPr lang="en-US" sz="2000" dirty="0"/>
          </a:p>
        </p:txBody>
      </p:sp>
      <p:sp>
        <p:nvSpPr>
          <p:cNvPr id="4" name="circulo-1"/>
          <p:cNvSpPr/>
          <p:nvPr/>
        </p:nvSpPr>
        <p:spPr>
          <a:xfrm>
            <a:off x="10241280" y="640080"/>
            <a:ext cx="1188720" cy="11887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o-2"/>
          <p:cNvSpPr txBox="1"/>
          <p:nvPr/>
        </p:nvSpPr>
        <p:spPr>
          <a:xfrm>
            <a:off x="10241280" y="64008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chemeClr val="bg1"/>
                </a:solidFill>
              </a:rPr>
              <a:t>🪙</a:t>
            </a:r>
            <a:endParaRPr lang="en-US" sz="3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Como o sistema funciona</a:t>
            </a:r>
            <a:endParaRPr lang="en-US" sz="3200" dirty="0"/>
          </a:p>
        </p:txBody>
      </p:sp>
      <p:sp>
        <p:nvSpPr>
          <p:cNvPr id="3" name="cartao-3"/>
          <p:cNvSpPr/>
          <p:nvPr/>
        </p:nvSpPr>
        <p:spPr>
          <a:xfrm>
            <a:off x="548640" y="1417320"/>
            <a:ext cx="315468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4" name="circulo-4"/>
          <p:cNvSpPr/>
          <p:nvPr/>
        </p:nvSpPr>
        <p:spPr>
          <a:xfrm>
            <a:off x="822960" y="169164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o-5"/>
          <p:cNvSpPr txBox="1"/>
          <p:nvPr/>
        </p:nvSpPr>
        <p:spPr>
          <a:xfrm>
            <a:off x="822960" y="1691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chemeClr val="bg1"/>
                </a:solidFill>
              </a:rPr>
              <a:t>🏫</a:t>
            </a:r>
            <a:endParaRPr lang="en-US" sz="2300" dirty="0"/>
          </a:p>
        </p:txBody>
      </p:sp>
      <p:sp>
        <p:nvSpPr>
          <p:cNvPr id="6" name="texto-6"/>
          <p:cNvSpPr txBox="1"/>
          <p:nvPr/>
        </p:nvSpPr>
        <p:spPr>
          <a:xfrm>
            <a:off x="1828800" y="16916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Professor</a:t>
            </a:r>
            <a:endParaRPr lang="en-US" sz="2200" dirty="0"/>
          </a:p>
        </p:txBody>
      </p:sp>
      <p:sp>
        <p:nvSpPr>
          <p:cNvPr id="7" name="texto-7"/>
          <p:cNvSpPr txBox="1"/>
          <p:nvPr/>
        </p:nvSpPr>
        <p:spPr>
          <a:xfrm>
            <a:off x="822960" y="27432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Recebe 1.000 moedas por semestre e reconhece alunos com moedas e uma mensagem.</a:t>
            </a:r>
            <a:endParaRPr lang="en-US" sz="1600" dirty="0"/>
          </a:p>
        </p:txBody>
      </p:sp>
      <p:sp>
        <p:nvSpPr>
          <p:cNvPr id="8" name="cartao-8"/>
          <p:cNvSpPr/>
          <p:nvPr/>
        </p:nvSpPr>
        <p:spPr>
          <a:xfrm>
            <a:off x="4526280" y="1417320"/>
            <a:ext cx="315468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9" name="circulo-9"/>
          <p:cNvSpPr/>
          <p:nvPr/>
        </p:nvSpPr>
        <p:spPr>
          <a:xfrm>
            <a:off x="4800600" y="1691640"/>
            <a:ext cx="822960" cy="8229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texto-10"/>
          <p:cNvSpPr txBox="1"/>
          <p:nvPr/>
        </p:nvSpPr>
        <p:spPr>
          <a:xfrm>
            <a:off x="4800600" y="1691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chemeClr val="bg1"/>
                </a:solidFill>
              </a:rPr>
              <a:t>🎓</a:t>
            </a:r>
            <a:endParaRPr lang="en-US" sz="2300" dirty="0"/>
          </a:p>
        </p:txBody>
      </p:sp>
      <p:sp>
        <p:nvSpPr>
          <p:cNvPr id="11" name="texto-11"/>
          <p:cNvSpPr txBox="1"/>
          <p:nvPr/>
        </p:nvSpPr>
        <p:spPr>
          <a:xfrm>
            <a:off x="5806440" y="16916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Aluno</a:t>
            </a:r>
            <a:endParaRPr lang="en-US" sz="2200" dirty="0"/>
          </a:p>
        </p:txBody>
      </p:sp>
      <p:sp>
        <p:nvSpPr>
          <p:cNvPr id="12" name="texto-12"/>
          <p:cNvSpPr txBox="1"/>
          <p:nvPr/>
        </p:nvSpPr>
        <p:spPr>
          <a:xfrm>
            <a:off x="4800600" y="27432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Acumula as moedas, consulta o extrato e troca por vantagens das empresas.</a:t>
            </a:r>
            <a:endParaRPr lang="en-US" sz="1600" dirty="0"/>
          </a:p>
        </p:txBody>
      </p:sp>
      <p:sp>
        <p:nvSpPr>
          <p:cNvPr id="13" name="cartao-13"/>
          <p:cNvSpPr/>
          <p:nvPr/>
        </p:nvSpPr>
        <p:spPr>
          <a:xfrm>
            <a:off x="8503920" y="1417320"/>
            <a:ext cx="315468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4" name="circulo-14"/>
          <p:cNvSpPr/>
          <p:nvPr/>
        </p:nvSpPr>
        <p:spPr>
          <a:xfrm>
            <a:off x="8778240" y="1691640"/>
            <a:ext cx="822960" cy="82296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5" name="texto-15"/>
          <p:cNvSpPr txBox="1"/>
          <p:nvPr/>
        </p:nvSpPr>
        <p:spPr>
          <a:xfrm>
            <a:off x="8778240" y="1691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chemeClr val="bg1"/>
                </a:solidFill>
              </a:rPr>
              <a:t>🏢</a:t>
            </a:r>
            <a:endParaRPr lang="en-US" sz="2300" dirty="0"/>
          </a:p>
        </p:txBody>
      </p:sp>
      <p:sp>
        <p:nvSpPr>
          <p:cNvPr id="16" name="texto-16"/>
          <p:cNvSpPr txBox="1"/>
          <p:nvPr/>
        </p:nvSpPr>
        <p:spPr>
          <a:xfrm>
            <a:off x="9784080" y="1691640"/>
            <a:ext cx="1783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Empresa parceira</a:t>
            </a:r>
            <a:endParaRPr lang="en-US" sz="2200" dirty="0"/>
          </a:p>
        </p:txBody>
      </p:sp>
      <p:sp>
        <p:nvSpPr>
          <p:cNvPr id="17" name="texto-17"/>
          <p:cNvSpPr txBox="1"/>
          <p:nvPr/>
        </p:nvSpPr>
        <p:spPr>
          <a:xfrm>
            <a:off x="8778240" y="27432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Cadastra vantagens com foto e custo em moedas e confere o cupom do aluno.</a:t>
            </a:r>
            <a:endParaRPr lang="en-US" sz="1600" dirty="0"/>
          </a:p>
        </p:txBody>
      </p:sp>
      <p:sp>
        <p:nvSpPr>
          <p:cNvPr id="18" name="seta-18"/>
          <p:cNvSpPr/>
          <p:nvPr/>
        </p:nvSpPr>
        <p:spPr>
          <a:xfrm>
            <a:off x="3703320" y="2514600"/>
            <a:ext cx="822960" cy="45720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9" name="texto-19"/>
          <p:cNvSpPr txBox="1"/>
          <p:nvPr/>
        </p:nvSpPr>
        <p:spPr>
          <a:xfrm>
            <a:off x="3703320" y="30175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envia moedas</a:t>
            </a:r>
            <a:endParaRPr lang="en-US" sz="1300" dirty="0"/>
          </a:p>
        </p:txBody>
      </p:sp>
      <p:sp>
        <p:nvSpPr>
          <p:cNvPr id="20" name="seta-20"/>
          <p:cNvSpPr/>
          <p:nvPr/>
        </p:nvSpPr>
        <p:spPr>
          <a:xfrm>
            <a:off x="7680960" y="2514600"/>
            <a:ext cx="822960" cy="45720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21" name="texto-21"/>
          <p:cNvSpPr txBox="1"/>
          <p:nvPr/>
        </p:nvSpPr>
        <p:spPr>
          <a:xfrm>
            <a:off x="7680960" y="30175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resgata vantagem</a:t>
            </a:r>
            <a:endParaRPr lang="en-US" sz="1300" dirty="0"/>
          </a:p>
        </p:txBody>
      </p:sp>
      <p:sp>
        <p:nvSpPr>
          <p:cNvPr id="22" name="cartao-22"/>
          <p:cNvSpPr/>
          <p:nvPr/>
        </p:nvSpPr>
        <p:spPr>
          <a:xfrm>
            <a:off x="548640" y="4526280"/>
            <a:ext cx="1110996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/>
        </p:spPr>
      </p:sp>
      <p:sp>
        <p:nvSpPr>
          <p:cNvPr id="23" name="circulo-23"/>
          <p:cNvSpPr/>
          <p:nvPr/>
        </p:nvSpPr>
        <p:spPr>
          <a:xfrm>
            <a:off x="868680" y="4754880"/>
            <a:ext cx="868680" cy="8686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24" name="texto-24"/>
          <p:cNvSpPr txBox="1"/>
          <p:nvPr/>
        </p:nvSpPr>
        <p:spPr>
          <a:xfrm>
            <a:off x="868680" y="47548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dirty="0">
                <a:solidFill>
                  <a:schemeClr val="bg1"/>
                </a:solidFill>
              </a:rPr>
              <a:t>✓</a:t>
            </a:r>
            <a:endParaRPr lang="en-US" sz="2500" dirty="0"/>
          </a:p>
        </p:txBody>
      </p:sp>
      <p:sp>
        <p:nvSpPr>
          <p:cNvPr id="25" name="texto-25"/>
          <p:cNvSpPr txBox="1"/>
          <p:nvPr/>
        </p:nvSpPr>
        <p:spPr>
          <a:xfrm>
            <a:off x="2011680" y="47091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Todos os requisitos do enunciado</a:t>
            </a:r>
            <a:endParaRPr lang="en-US" sz="2000" dirty="0"/>
          </a:p>
        </p:txBody>
      </p:sp>
      <p:sp>
        <p:nvSpPr>
          <p:cNvPr id="26" name="texto-26"/>
          <p:cNvSpPr txBox="1"/>
          <p:nvPr/>
        </p:nvSpPr>
        <p:spPr>
          <a:xfrm>
            <a:off x="2011680" y="5166360"/>
            <a:ext cx="9326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Login por perfil, envio de moedas com mensagem, extrato, vantagens com foto, resgate com código de cupom e e-mails ao aluno e à empresa.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Arquitetura em camadas (MVC)</a:t>
            </a:r>
            <a:endParaRPr lang="en-US" sz="3200" dirty="0"/>
          </a:p>
        </p:txBody>
      </p:sp>
      <p:pic>
        <p:nvPicPr>
          <p:cNvPr id="3" name="imagem-27" descr="Diagrama de componentes com as camadas View, Controller, Model e Persistênc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589520" cy="5024317"/>
          </a:xfrm>
          <a:prstGeom prst="rect">
            <a:avLst/>
          </a:prstGeom>
        </p:spPr>
      </p:pic>
      <p:sp>
        <p:nvSpPr>
          <p:cNvPr id="4" name="cartao-28"/>
          <p:cNvSpPr/>
          <p:nvPr/>
        </p:nvSpPr>
        <p:spPr>
          <a:xfrm>
            <a:off x="8366760" y="1417320"/>
            <a:ext cx="329184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5" name="marcador-29"/>
          <p:cNvSpPr/>
          <p:nvPr/>
        </p:nvSpPr>
        <p:spPr>
          <a:xfrm>
            <a:off x="8549640" y="1783080"/>
            <a:ext cx="365760" cy="36576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6" name="texto-30"/>
          <p:cNvSpPr txBox="1"/>
          <p:nvPr/>
        </p:nvSpPr>
        <p:spPr>
          <a:xfrm>
            <a:off x="9098280" y="15270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View</a:t>
            </a:r>
            <a:endParaRPr lang="en-US" sz="1800" dirty="0"/>
          </a:p>
        </p:txBody>
      </p:sp>
      <p:sp>
        <p:nvSpPr>
          <p:cNvPr id="7" name="texto-31"/>
          <p:cNvSpPr txBox="1"/>
          <p:nvPr/>
        </p:nvSpPr>
        <p:spPr>
          <a:xfrm>
            <a:off x="9098280" y="1920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React + TypeScript consome a API por HTTP</a:t>
            </a:r>
            <a:endParaRPr lang="en-US" sz="1300" dirty="0"/>
          </a:p>
        </p:txBody>
      </p:sp>
      <p:sp>
        <p:nvSpPr>
          <p:cNvPr id="8" name="cartao-32"/>
          <p:cNvSpPr/>
          <p:nvPr/>
        </p:nvSpPr>
        <p:spPr>
          <a:xfrm>
            <a:off x="8366760" y="2651760"/>
            <a:ext cx="329184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9" name="marcador-33"/>
          <p:cNvSpPr/>
          <p:nvPr/>
        </p:nvSpPr>
        <p:spPr>
          <a:xfrm>
            <a:off x="8549640" y="301752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o-34"/>
          <p:cNvSpPr txBox="1"/>
          <p:nvPr/>
        </p:nvSpPr>
        <p:spPr>
          <a:xfrm>
            <a:off x="9098280" y="27614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Controller</a:t>
            </a:r>
            <a:endParaRPr lang="en-US" sz="1800" dirty="0"/>
          </a:p>
        </p:txBody>
      </p:sp>
      <p:sp>
        <p:nvSpPr>
          <p:cNvPr id="11" name="texto-35"/>
          <p:cNvSpPr txBox="1"/>
          <p:nvPr/>
        </p:nvSpPr>
        <p:spPr>
          <a:xfrm>
            <a:off x="9098280" y="3154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FastAPI: rotas, validação e perfis</a:t>
            </a:r>
            <a:endParaRPr lang="en-US" sz="1300" dirty="0"/>
          </a:p>
        </p:txBody>
      </p:sp>
      <p:sp>
        <p:nvSpPr>
          <p:cNvPr id="12" name="cartao-36"/>
          <p:cNvSpPr/>
          <p:nvPr/>
        </p:nvSpPr>
        <p:spPr>
          <a:xfrm>
            <a:off x="8366760" y="3886200"/>
            <a:ext cx="329184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3" name="marcador-37"/>
          <p:cNvSpPr/>
          <p:nvPr/>
        </p:nvSpPr>
        <p:spPr>
          <a:xfrm>
            <a:off x="8549640" y="425196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4" name="texto-38"/>
          <p:cNvSpPr txBox="1"/>
          <p:nvPr/>
        </p:nvSpPr>
        <p:spPr>
          <a:xfrm>
            <a:off x="9098280" y="399592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Model</a:t>
            </a:r>
            <a:endParaRPr lang="en-US" sz="1800" dirty="0"/>
          </a:p>
        </p:txBody>
      </p:sp>
      <p:sp>
        <p:nvSpPr>
          <p:cNvPr id="15" name="texto-39"/>
          <p:cNvSpPr txBox="1"/>
          <p:nvPr/>
        </p:nvSpPr>
        <p:spPr>
          <a:xfrm>
            <a:off x="9098280" y="4389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Serviços de regra de negócio e entidades</a:t>
            </a:r>
            <a:endParaRPr lang="en-US" sz="1300" dirty="0"/>
          </a:p>
        </p:txBody>
      </p:sp>
      <p:sp>
        <p:nvSpPr>
          <p:cNvPr id="16" name="cartao-40"/>
          <p:cNvSpPr/>
          <p:nvPr/>
        </p:nvSpPr>
        <p:spPr>
          <a:xfrm>
            <a:off x="8366760" y="5120640"/>
            <a:ext cx="329184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17" name="marcador-41"/>
          <p:cNvSpPr/>
          <p:nvPr/>
        </p:nvSpPr>
        <p:spPr>
          <a:xfrm>
            <a:off x="8549640" y="548640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texto-42"/>
          <p:cNvSpPr txBox="1"/>
          <p:nvPr/>
        </p:nvSpPr>
        <p:spPr>
          <a:xfrm>
            <a:off x="9098280" y="523036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Persistência</a:t>
            </a:r>
            <a:endParaRPr lang="en-US" sz="1800" dirty="0"/>
          </a:p>
        </p:txBody>
      </p:sp>
      <p:sp>
        <p:nvSpPr>
          <p:cNvPr id="19" name="texto-43"/>
          <p:cNvSpPr txBox="1"/>
          <p:nvPr/>
        </p:nvSpPr>
        <p:spPr>
          <a:xfrm>
            <a:off x="9098280" y="56235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Repositórios, SQLAlchemy e PostgreSQL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Demonstração: cadastro, login e vantagens</a:t>
            </a:r>
            <a:endParaRPr lang="en-US" sz="3200" dirty="0"/>
          </a:p>
        </p:txBody>
      </p:sp>
      <p:pic>
        <p:nvPicPr>
          <p:cNvPr id="3" name="imagem-44" descr="Cadastro do aluno, com erros por camp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5440680" cy="3074551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pic>
        <p:nvPicPr>
          <p:cNvPr id="4" name="imagem-45" descr="A empresa cadastra vantagens com fot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325880"/>
            <a:ext cx="5440680" cy="208276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5" name="texto-46"/>
          <p:cNvSpPr txBox="1"/>
          <p:nvPr/>
        </p:nvSpPr>
        <p:spPr>
          <a:xfrm>
            <a:off x="548640" y="4583311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Cadastro do aluno, com erros por campo</a:t>
            </a:r>
            <a:endParaRPr lang="en-US" sz="1500" dirty="0"/>
          </a:p>
        </p:txBody>
      </p:sp>
      <p:sp>
        <p:nvSpPr>
          <p:cNvPr id="6" name="texto-47"/>
          <p:cNvSpPr txBox="1"/>
          <p:nvPr/>
        </p:nvSpPr>
        <p:spPr>
          <a:xfrm>
            <a:off x="6199632" y="4583311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A empresa cadastra vantagens com foto</a:t>
            </a:r>
            <a:endParaRPr lang="en-US" sz="1500" dirty="0"/>
          </a:p>
        </p:txBody>
      </p:sp>
      <p:sp>
        <p:nvSpPr>
          <p:cNvPr id="7" name="cartao-48"/>
          <p:cNvSpPr/>
          <p:nvPr/>
        </p:nvSpPr>
        <p:spPr>
          <a:xfrm>
            <a:off x="548640" y="5223391"/>
            <a:ext cx="11091672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/>
        </p:spPr>
      </p:sp>
      <p:sp>
        <p:nvSpPr>
          <p:cNvPr id="8" name="texto-49"/>
          <p:cNvSpPr txBox="1"/>
          <p:nvPr/>
        </p:nvSpPr>
        <p:spPr>
          <a:xfrm>
            <a:off x="822960" y="5287399"/>
            <a:ext cx="1056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Cada perfil só enxerga as próprias telas: a empresa não acessa o extrato e o aluno não acessa o envio de moedas.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Demonstração: envio de moedas e resgate</a:t>
            </a:r>
            <a:endParaRPr lang="en-US" sz="3200" dirty="0"/>
          </a:p>
        </p:txBody>
      </p:sp>
      <p:pic>
        <p:nvPicPr>
          <p:cNvPr id="3" name="imagem-50" descr="Professor: aluno, valor e motivo obrigatóri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5440680" cy="2864858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pic>
        <p:nvPicPr>
          <p:cNvPr id="4" name="imagem-51" descr="Aluno: resgate com o código do cupo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325880"/>
            <a:ext cx="5440680" cy="2842189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5" name="texto-52"/>
          <p:cNvSpPr txBox="1"/>
          <p:nvPr/>
        </p:nvSpPr>
        <p:spPr>
          <a:xfrm>
            <a:off x="548640" y="4373618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Professor: aluno, valor e motivo obrigatório</a:t>
            </a:r>
            <a:endParaRPr lang="en-US" sz="1500" dirty="0"/>
          </a:p>
        </p:txBody>
      </p:sp>
      <p:sp>
        <p:nvSpPr>
          <p:cNvPr id="6" name="texto-53"/>
          <p:cNvSpPr txBox="1"/>
          <p:nvPr/>
        </p:nvSpPr>
        <p:spPr>
          <a:xfrm>
            <a:off x="6199632" y="4373618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Aluno: resgate com o código do cupom</a:t>
            </a:r>
            <a:endParaRPr lang="en-US" sz="1500" dirty="0"/>
          </a:p>
        </p:txBody>
      </p:sp>
      <p:sp>
        <p:nvSpPr>
          <p:cNvPr id="7" name="cartao-54"/>
          <p:cNvSpPr/>
          <p:nvPr/>
        </p:nvSpPr>
        <p:spPr>
          <a:xfrm>
            <a:off x="548640" y="5013698"/>
            <a:ext cx="11091672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/>
        </p:spPr>
      </p:sp>
      <p:sp>
        <p:nvSpPr>
          <p:cNvPr id="8" name="texto-55"/>
          <p:cNvSpPr txBox="1"/>
          <p:nvPr/>
        </p:nvSpPr>
        <p:spPr>
          <a:xfrm>
            <a:off x="822960" y="5077706"/>
            <a:ext cx="1056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 saldo é conferido antes de cada envio e de cada resgate, e o botão de resgatar fica desabilitado sem saldo.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Extrato e e-mails</a:t>
            </a:r>
            <a:endParaRPr lang="en-US" sz="3200" dirty="0"/>
          </a:p>
        </p:txBody>
      </p:sp>
      <p:pic>
        <p:nvPicPr>
          <p:cNvPr id="3" name="imagem-56" descr="Extrato do aluno com recebimento e resga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5760720" cy="2241280"/>
          </a:xfrm>
          <a:prstGeom prst="rect">
            <a:avLst/>
          </a:prstGeom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pic>
      <p:sp>
        <p:nvSpPr>
          <p:cNvPr id="4" name="texto-57"/>
          <p:cNvSpPr txBox="1"/>
          <p:nvPr/>
        </p:nvSpPr>
        <p:spPr>
          <a:xfrm>
            <a:off x="548640" y="37043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Extrato do aluno: o que entrou e o que saiu</a:t>
            </a:r>
            <a:endParaRPr lang="en-US" sz="1400" dirty="0"/>
          </a:p>
        </p:txBody>
      </p:sp>
      <p:sp>
        <p:nvSpPr>
          <p:cNvPr id="5" name="email-58"/>
          <p:cNvSpPr/>
          <p:nvPr/>
        </p:nvSpPr>
        <p:spPr>
          <a:xfrm>
            <a:off x="6675120" y="1325880"/>
            <a:ext cx="4965192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texto-59"/>
          <p:cNvSpPr txBox="1"/>
          <p:nvPr/>
        </p:nvSpPr>
        <p:spPr>
          <a:xfrm>
            <a:off x="6903720" y="14356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Cupom do aluno</a:t>
            </a:r>
            <a:endParaRPr lang="en-US" sz="1800" dirty="0"/>
          </a:p>
        </p:txBody>
      </p:sp>
      <p:sp>
        <p:nvSpPr>
          <p:cNvPr id="7" name="texto-60"/>
          <p:cNvSpPr txBox="1"/>
          <p:nvPr/>
        </p:nvSpPr>
        <p:spPr>
          <a:xfrm>
            <a:off x="6903720" y="19659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Código do cupom: 3823V2QQ</a:t>
            </a:r>
            <a:endParaRPr lang="en-US" sz="1600" dirty="0"/>
          </a:p>
        </p:txBody>
      </p:sp>
      <p:sp>
        <p:nvSpPr>
          <p:cNvPr id="8" name="email-61"/>
          <p:cNvSpPr/>
          <p:nvPr/>
        </p:nvSpPr>
        <p:spPr>
          <a:xfrm>
            <a:off x="6675120" y="3108960"/>
            <a:ext cx="4965192" cy="1600200"/>
          </a:xfrm>
          <a:prstGeom prst="roundRect">
            <a:avLst>
              <a:gd name="adj" fmla="val 457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texto-62"/>
          <p:cNvSpPr txBox="1"/>
          <p:nvPr/>
        </p:nvSpPr>
        <p:spPr>
          <a:xfrm>
            <a:off x="6903720" y="32186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Conferência da empresa</a:t>
            </a:r>
            <a:endParaRPr lang="en-US" sz="1800" dirty="0"/>
          </a:p>
        </p:txBody>
      </p:sp>
      <p:sp>
        <p:nvSpPr>
          <p:cNvPr id="10" name="texto-63"/>
          <p:cNvSpPr txBox="1"/>
          <p:nvPr/>
        </p:nvSpPr>
        <p:spPr>
          <a:xfrm>
            <a:off x="6903720" y="37490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Código para conferência: 3823V2QQ</a:t>
            </a:r>
            <a:endParaRPr lang="en-US" sz="1600" dirty="0"/>
          </a:p>
        </p:txBody>
      </p:sp>
      <p:sp>
        <p:nvSpPr>
          <p:cNvPr id="11" name="cartao-6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/>
        </p:spPr>
      </p:sp>
      <p:sp>
        <p:nvSpPr>
          <p:cNvPr id="12" name="texto-65"/>
          <p:cNvSpPr txBox="1"/>
          <p:nvPr/>
        </p:nvSpPr>
        <p:spPr>
          <a:xfrm>
            <a:off x="822960" y="5413248"/>
            <a:ext cx="1056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Os dois e-mails levam o mesmo código. O envio usa o SMTP do Gmail configurado no .env; sem credenciais, o texto aparece no log da API.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Oficina 1: Docker Compose</a:t>
            </a:r>
            <a:endParaRPr lang="en-US" sz="3200" dirty="0"/>
          </a:p>
        </p:txBody>
      </p:sp>
      <p:sp>
        <p:nvSpPr>
          <p:cNvPr id="3" name="texto-66"/>
          <p:cNvSpPr txBox="1"/>
          <p:nvPr/>
        </p:nvSpPr>
        <p:spPr>
          <a:xfrm>
            <a:off x="548640" y="13716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O que é</a:t>
            </a:r>
            <a:endParaRPr lang="en-US" sz="1800" dirty="0"/>
          </a:p>
        </p:txBody>
      </p:sp>
      <p:sp>
        <p:nvSpPr>
          <p:cNvPr id="4" name="texto-67"/>
          <p:cNvSpPr txBox="1"/>
          <p:nvPr/>
        </p:nvSpPr>
        <p:spPr>
          <a:xfrm>
            <a:off x="548640" y="17830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Docker empacota cada serviço em um contêiner. O Compose descreve e liga vários contêineres em um arquivo.</a:t>
            </a:r>
            <a:endParaRPr lang="en-US" sz="1600" dirty="0"/>
          </a:p>
        </p:txBody>
      </p:sp>
      <p:sp>
        <p:nvSpPr>
          <p:cNvPr id="5" name="texto-68"/>
          <p:cNvSpPr txBox="1"/>
          <p:nvPr/>
        </p:nvSpPr>
        <p:spPr>
          <a:xfrm>
            <a:off x="548640" y="3154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Como usar</a:t>
            </a:r>
            <a:endParaRPr lang="en-US" sz="1800" dirty="0"/>
          </a:p>
        </p:txBody>
      </p:sp>
      <p:sp>
        <p:nvSpPr>
          <p:cNvPr id="6" name="texto-69"/>
          <p:cNvSpPr txBox="1"/>
          <p:nvPr/>
        </p:nvSpPr>
        <p:spPr>
          <a:xfrm>
            <a:off x="548640" y="356616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Descrever banco, API e front no docker-compose.yml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Subir tudo: docker compose up -d --build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Ver os registros: docker compose logs api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Limpar tudo: docker compose down -v</a:t>
            </a:r>
            <a:endParaRPr lang="en-US" sz="1600" dirty="0"/>
          </a:p>
        </p:txBody>
      </p:sp>
      <p:sp>
        <p:nvSpPr>
          <p:cNvPr id="7" name="painel-codigo-70"/>
          <p:cNvSpPr/>
          <p:nvPr/>
        </p:nvSpPr>
        <p:spPr>
          <a:xfrm>
            <a:off x="5577840" y="1371600"/>
            <a:ext cx="6080760" cy="3771900"/>
          </a:xfrm>
          <a:prstGeom prst="roundRect">
            <a:avLst>
              <a:gd name="adj" fmla="val 2424"/>
            </a:avLst>
          </a:prstGeom>
          <a:solidFill>
            <a:schemeClr val="tx1"/>
          </a:solidFill>
          <a:ln/>
        </p:spPr>
      </p:sp>
      <p:sp>
        <p:nvSpPr>
          <p:cNvPr id="8" name="texto-71"/>
          <p:cNvSpPr txBox="1"/>
          <p:nvPr/>
        </p:nvSpPr>
        <p:spPr>
          <a:xfrm>
            <a:off x="5806440" y="1554480"/>
            <a:ext cx="5623560" cy="3406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db: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image: postgres:16-alpine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api: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build: ./src/back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depends_on: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db: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condition: service_healthy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command: 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sh -c "alembic upgrade head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&amp;&amp; python -m app.tarefas.seed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&amp;&amp; uvicorn app.main:app --port 8000"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front: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build: ./src/front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ports: ["5173:80"]</a:t>
            </a:r>
            <a:endParaRPr lang="en-US" sz="1300" dirty="0"/>
          </a:p>
        </p:txBody>
      </p:sp>
      <p:sp>
        <p:nvSpPr>
          <p:cNvPr id="9" name="texto-72"/>
          <p:cNvSpPr txBox="1"/>
          <p:nvPr/>
        </p:nvSpPr>
        <p:spPr>
          <a:xfrm>
            <a:off x="5577840" y="5216652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docker-compose.yml (trecho resumido e reformatado)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Oficina 2: FastAPI e Pydantic</a:t>
            </a:r>
            <a:endParaRPr lang="en-US" sz="3200" dirty="0"/>
          </a:p>
        </p:txBody>
      </p:sp>
      <p:sp>
        <p:nvSpPr>
          <p:cNvPr id="3" name="texto-73"/>
          <p:cNvSpPr txBox="1"/>
          <p:nvPr/>
        </p:nvSpPr>
        <p:spPr>
          <a:xfrm>
            <a:off x="548640" y="13716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O que é</a:t>
            </a:r>
            <a:endParaRPr lang="en-US" sz="1800" dirty="0"/>
          </a:p>
        </p:txBody>
      </p:sp>
      <p:sp>
        <p:nvSpPr>
          <p:cNvPr id="4" name="texto-74"/>
          <p:cNvSpPr txBox="1"/>
          <p:nvPr/>
        </p:nvSpPr>
        <p:spPr>
          <a:xfrm>
            <a:off x="548640" y="17830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FastAPI cria APIs REST em Python. Pydantic valida e converte os dados que entram e saem.</a:t>
            </a:r>
            <a:endParaRPr lang="en-US" sz="1600" dirty="0"/>
          </a:p>
        </p:txBody>
      </p:sp>
      <p:sp>
        <p:nvSpPr>
          <p:cNvPr id="5" name="texto-75"/>
          <p:cNvSpPr txBox="1"/>
          <p:nvPr/>
        </p:nvSpPr>
        <p:spPr>
          <a:xfrm>
            <a:off x="548640" y="3154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Como usar</a:t>
            </a:r>
            <a:endParaRPr lang="en-US" sz="1800" dirty="0"/>
          </a:p>
        </p:txBody>
      </p:sp>
      <p:sp>
        <p:nvSpPr>
          <p:cNvPr id="6" name="texto-76"/>
          <p:cNvSpPr txBox="1"/>
          <p:nvPr/>
        </p:nvSpPr>
        <p:spPr>
          <a:xfrm>
            <a:off x="548640" y="356616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Declarar a rota com o decorador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Receber um schema Pydantic no corpo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Injetar serviço e perfil com Depends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Abrir http://localhost:8000/docs</a:t>
            </a:r>
            <a:endParaRPr lang="en-US" sz="1600" dirty="0"/>
          </a:p>
        </p:txBody>
      </p:sp>
      <p:sp>
        <p:nvSpPr>
          <p:cNvPr id="7" name="painel-codigo-77"/>
          <p:cNvSpPr/>
          <p:nvPr/>
        </p:nvSpPr>
        <p:spPr>
          <a:xfrm>
            <a:off x="5577840" y="1371600"/>
            <a:ext cx="6080760" cy="3127248"/>
          </a:xfrm>
          <a:prstGeom prst="roundRect">
            <a:avLst>
              <a:gd name="adj" fmla="val 2924"/>
            </a:avLst>
          </a:prstGeom>
          <a:solidFill>
            <a:schemeClr val="tx1"/>
          </a:solidFill>
          <a:ln/>
        </p:spPr>
      </p:sp>
      <p:sp>
        <p:nvSpPr>
          <p:cNvPr id="8" name="texto-78"/>
          <p:cNvSpPr txBox="1"/>
          <p:nvPr/>
        </p:nvSpPr>
        <p:spPr>
          <a:xfrm>
            <a:off x="5806440" y="1554480"/>
            <a:ext cx="5623560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@router.post("/enviar", status_code=201,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response_model=EnvioMoedasRespostaSchema)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enviar_moedas(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dados: EnvioMoedasCriarSchema,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professor: Usuario = Depends(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exigir_perfil(TipoUsuario.PROFESSOR)),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servico: ServicoMoedas = Depends(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obter_servico_moedas),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envio = servico.enviar_moedas(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professor.id_usuario, dados.model_dump())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EnvioMoedasRespostaSchema(...)</a:t>
            </a:r>
            <a:endParaRPr lang="en-US" sz="1300" dirty="0"/>
          </a:p>
        </p:txBody>
      </p:sp>
      <p:sp>
        <p:nvSpPr>
          <p:cNvPr id="9" name="texto-79"/>
          <p:cNvSpPr txBox="1"/>
          <p:nvPr/>
        </p:nvSpPr>
        <p:spPr>
          <a:xfrm>
            <a:off x="5577840" y="4572000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src/back/app/controller/rotas/moedas.py (trecho resumido e reformatado)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Oficina 3: SQLAlchemy, PostgreSQL e Alembic</a:t>
            </a:r>
            <a:endParaRPr lang="en-US" sz="3200" dirty="0"/>
          </a:p>
        </p:txBody>
      </p:sp>
      <p:sp>
        <p:nvSpPr>
          <p:cNvPr id="3" name="texto-80"/>
          <p:cNvSpPr txBox="1"/>
          <p:nvPr/>
        </p:nvSpPr>
        <p:spPr>
          <a:xfrm>
            <a:off x="548640" y="13716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O que é</a:t>
            </a:r>
            <a:endParaRPr lang="en-US" sz="1800" dirty="0"/>
          </a:p>
        </p:txBody>
      </p:sp>
      <p:sp>
        <p:nvSpPr>
          <p:cNvPr id="4" name="texto-81"/>
          <p:cNvSpPr txBox="1"/>
          <p:nvPr/>
        </p:nvSpPr>
        <p:spPr>
          <a:xfrm>
            <a:off x="548640" y="17830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 ORM SQLAlchemy mapeia classes em tabelas do PostgreSQL. O Alembic versiona o esquema em migrações.</a:t>
            </a:r>
            <a:endParaRPr lang="en-US" sz="1600" dirty="0"/>
          </a:p>
        </p:txBody>
      </p:sp>
      <p:sp>
        <p:nvSpPr>
          <p:cNvPr id="5" name="texto-82"/>
          <p:cNvSpPr txBox="1"/>
          <p:nvPr/>
        </p:nvSpPr>
        <p:spPr>
          <a:xfrm>
            <a:off x="548640" y="3154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Como usar</a:t>
            </a:r>
            <a:endParaRPr lang="en-US" sz="1800" dirty="0"/>
          </a:p>
        </p:txBody>
      </p:sp>
      <p:sp>
        <p:nvSpPr>
          <p:cNvPr id="6" name="texto-83"/>
          <p:cNvSpPr txBox="1"/>
          <p:nvPr/>
        </p:nvSpPr>
        <p:spPr>
          <a:xfrm>
            <a:off x="548640" y="356616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Declarar a entidade com mapped_column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Esconder o banco atrás de uma interface (Repository)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Criar as tabelas: alembic upgrade head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Travar o saldo: with_for_update()</a:t>
            </a:r>
            <a:endParaRPr lang="en-US" sz="1600" dirty="0"/>
          </a:p>
        </p:txBody>
      </p:sp>
      <p:sp>
        <p:nvSpPr>
          <p:cNvPr id="7" name="painel-codigo-84"/>
          <p:cNvSpPr/>
          <p:nvPr/>
        </p:nvSpPr>
        <p:spPr>
          <a:xfrm>
            <a:off x="5577840" y="1371600"/>
            <a:ext cx="6080760" cy="3986784"/>
          </a:xfrm>
          <a:prstGeom prst="roundRect">
            <a:avLst>
              <a:gd name="adj" fmla="val 2294"/>
            </a:avLst>
          </a:prstGeom>
          <a:solidFill>
            <a:schemeClr val="tx1"/>
          </a:solidFill>
          <a:ln/>
        </p:spPr>
      </p:sp>
      <p:sp>
        <p:nvSpPr>
          <p:cNvPr id="8" name="texto-85"/>
          <p:cNvSpPr txBox="1"/>
          <p:nvPr/>
        </p:nvSpPr>
        <p:spPr>
          <a:xfrm>
            <a:off x="5806440" y="1554480"/>
            <a:ext cx="5623560" cy="3621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IRepositorioConta(ABC):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@abstractmethod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buscar_por_usuario(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self, id_usuario: int,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para_atualizar: bool = False,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-&gt; Conta | None: ...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RepositorioConta(IRepositorioConta):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buscar_por_usuario(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self, id_usuario, para_atualizar=False):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consulta = select(Conta).where(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Conta.id_usuario == id_usuario)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para_atualizar: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consulta = consulta.with_for_update()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self.sessao.execute(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consulta).scalar_one_or_none()</a:t>
            </a:r>
            <a:endParaRPr lang="en-US" sz="1300" dirty="0"/>
          </a:p>
        </p:txBody>
      </p:sp>
      <p:sp>
        <p:nvSpPr>
          <p:cNvPr id="9" name="texto-86"/>
          <p:cNvSpPr txBox="1"/>
          <p:nvPr/>
        </p:nvSpPr>
        <p:spPr>
          <a:xfrm>
            <a:off x="5577840" y="5431536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src/back/app/repository (trecho resumido e reformatado)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Oficina 4: Login com JWT e bcrypt</a:t>
            </a:r>
            <a:endParaRPr lang="en-US" sz="3200" dirty="0"/>
          </a:p>
        </p:txBody>
      </p:sp>
      <p:sp>
        <p:nvSpPr>
          <p:cNvPr id="3" name="texto-87"/>
          <p:cNvSpPr txBox="1"/>
          <p:nvPr/>
        </p:nvSpPr>
        <p:spPr>
          <a:xfrm>
            <a:off x="548640" y="13716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O que é</a:t>
            </a:r>
            <a:endParaRPr lang="en-US" sz="1800" dirty="0"/>
          </a:p>
        </p:txBody>
      </p:sp>
      <p:sp>
        <p:nvSpPr>
          <p:cNvPr id="4" name="texto-88"/>
          <p:cNvSpPr txBox="1"/>
          <p:nvPr/>
        </p:nvSpPr>
        <p:spPr>
          <a:xfrm>
            <a:off x="548640" y="17830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bcrypt guarda a senha como hash com salt. O JWT é um token assinado que identifica o usuário a cada requisição.</a:t>
            </a:r>
            <a:endParaRPr lang="en-US" sz="1600" dirty="0"/>
          </a:p>
        </p:txBody>
      </p:sp>
      <p:sp>
        <p:nvSpPr>
          <p:cNvPr id="5" name="texto-89"/>
          <p:cNvSpPr txBox="1"/>
          <p:nvPr/>
        </p:nvSpPr>
        <p:spPr>
          <a:xfrm>
            <a:off x="548640" y="3154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Como usar</a:t>
            </a:r>
            <a:endParaRPr lang="en-US" sz="1800" dirty="0"/>
          </a:p>
        </p:txBody>
      </p:sp>
      <p:sp>
        <p:nvSpPr>
          <p:cNvPr id="6" name="texto-90"/>
          <p:cNvSpPr txBox="1"/>
          <p:nvPr/>
        </p:nvSpPr>
        <p:spPr>
          <a:xfrm>
            <a:off x="548640" y="356616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POST /autenticacao/entrar devolve o token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O front envia Authorization: Bearer &lt;token&gt;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Cada rota confere o perfil do usuário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Token inválido ou vencido: 401 e volta ao login</a:t>
            </a:r>
            <a:endParaRPr lang="en-US" sz="1600" dirty="0"/>
          </a:p>
        </p:txBody>
      </p:sp>
      <p:sp>
        <p:nvSpPr>
          <p:cNvPr id="7" name="painel-codigo-91"/>
          <p:cNvSpPr/>
          <p:nvPr/>
        </p:nvSpPr>
        <p:spPr>
          <a:xfrm>
            <a:off x="5577840" y="1371600"/>
            <a:ext cx="6080760" cy="3342132"/>
          </a:xfrm>
          <a:prstGeom prst="roundRect">
            <a:avLst>
              <a:gd name="adj" fmla="val 2736"/>
            </a:avLst>
          </a:prstGeom>
          <a:solidFill>
            <a:schemeClr val="tx1"/>
          </a:solidFill>
          <a:ln/>
        </p:spPr>
      </p:sp>
      <p:sp>
        <p:nvSpPr>
          <p:cNvPr id="8" name="texto-92"/>
          <p:cNvSpPr txBox="1"/>
          <p:nvPr/>
        </p:nvSpPr>
        <p:spPr>
          <a:xfrm>
            <a:off x="5806440" y="1554480"/>
            <a:ext cx="5623560" cy="2976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emitir_token(self, usuario) -&gt; str: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agora = datetime.now(timezone.utc)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carga =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"sub": str(usuario.id_usuario),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"tipo": usuario.tipo_usuario.value,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"iat": agora,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"exp": agora + timedelta(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minutes=self.validade_minutos),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jwt.encode(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carga, self.segredo, algorithm="HS256")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senha: bcrypt.hashpw(senha, bcrypt.gensalt())</a:t>
            </a:r>
            <a:endParaRPr lang="en-US" sz="1300" dirty="0"/>
          </a:p>
        </p:txBody>
      </p:sp>
      <p:sp>
        <p:nvSpPr>
          <p:cNvPr id="9" name="texto-93"/>
          <p:cNvSpPr txBox="1"/>
          <p:nvPr/>
        </p:nvSpPr>
        <p:spPr>
          <a:xfrm>
            <a:off x="5577840" y="4786884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src/back/app/service/servico_autenticacao.py (trecho resumido e reformatado)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Oficina 5: React, Vite e Tailwind</a:t>
            </a:r>
            <a:endParaRPr lang="en-US" sz="3200" dirty="0"/>
          </a:p>
        </p:txBody>
      </p:sp>
      <p:sp>
        <p:nvSpPr>
          <p:cNvPr id="3" name="texto-94"/>
          <p:cNvSpPr txBox="1"/>
          <p:nvPr/>
        </p:nvSpPr>
        <p:spPr>
          <a:xfrm>
            <a:off x="548640" y="13716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O que é</a:t>
            </a:r>
            <a:endParaRPr lang="en-US" sz="1800" dirty="0"/>
          </a:p>
        </p:txBody>
      </p:sp>
      <p:sp>
        <p:nvSpPr>
          <p:cNvPr id="4" name="texto-95"/>
          <p:cNvSpPr txBox="1"/>
          <p:nvPr/>
        </p:nvSpPr>
        <p:spPr>
          <a:xfrm>
            <a:off x="548640" y="17830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React monta a interface com componentes e hooks. O Vite compila e serve. O Tailwind estiliza com classes direto no JSX.</a:t>
            </a:r>
            <a:endParaRPr lang="en-US" sz="1600" dirty="0"/>
          </a:p>
        </p:txBody>
      </p:sp>
      <p:sp>
        <p:nvSpPr>
          <p:cNvPr id="5" name="texto-96"/>
          <p:cNvSpPr txBox="1"/>
          <p:nvPr/>
        </p:nvSpPr>
        <p:spPr>
          <a:xfrm>
            <a:off x="548640" y="3154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5"/>
                </a:solidFill>
              </a:rPr>
              <a:t>Como usar</a:t>
            </a:r>
            <a:endParaRPr lang="en-US" sz="1800" dirty="0"/>
          </a:p>
        </p:txBody>
      </p:sp>
      <p:sp>
        <p:nvSpPr>
          <p:cNvPr id="6" name="texto-97"/>
          <p:cNvSpPr txBox="1"/>
          <p:nvPr/>
        </p:nvSpPr>
        <p:spPr>
          <a:xfrm>
            <a:off x="548640" y="3566160"/>
            <a:ext cx="4754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Cada tela é um componente; a lógica fica em hooks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npm run dev para ver, npm test para testar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Estilizar com classes: bg-indigo-600 text-white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chemeClr val="tx1"/>
                </a:solidFill>
              </a:rPr>
              <a:t>O roteador protege cada tela por perfil</a:t>
            </a:r>
            <a:endParaRPr lang="en-US" sz="1600" dirty="0"/>
          </a:p>
        </p:txBody>
      </p:sp>
      <p:sp>
        <p:nvSpPr>
          <p:cNvPr id="7" name="painel-codigo-98"/>
          <p:cNvSpPr/>
          <p:nvPr/>
        </p:nvSpPr>
        <p:spPr>
          <a:xfrm>
            <a:off x="5577840" y="1371600"/>
            <a:ext cx="6080760" cy="3557016"/>
          </a:xfrm>
          <a:prstGeom prst="roundRect">
            <a:avLst>
              <a:gd name="adj" fmla="val 2571"/>
            </a:avLst>
          </a:prstGeom>
          <a:solidFill>
            <a:schemeClr val="tx1"/>
          </a:solidFill>
          <a:ln/>
        </p:spPr>
      </p:sp>
      <p:sp>
        <p:nvSpPr>
          <p:cNvPr id="8" name="texto-99"/>
          <p:cNvSpPr txBox="1"/>
          <p:nvPr/>
        </p:nvSpPr>
        <p:spPr>
          <a:xfrm>
            <a:off x="5806440" y="1554480"/>
            <a:ext cx="5623560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RotaProtegida = 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perfis, children }: Props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=&gt;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{ usuario } = useAutenticacao();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(!usuario)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&lt;Navigate to="/entrar" replace /&gt;;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(!perfis.includes(usuario.tipo_usuario))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&lt;Navigate to="/" replace /&gt;;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&lt;&gt;{children}&lt;/&gt;;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primario: 'bg-indigo-600 text-white',</a:t>
            </a:r>
            <a:endParaRPr lang="en-US" sz="1300" dirty="0"/>
          </a:p>
        </p:txBody>
      </p:sp>
      <p:sp>
        <p:nvSpPr>
          <p:cNvPr id="9" name="texto-100"/>
          <p:cNvSpPr txBox="1"/>
          <p:nvPr/>
        </p:nvSpPr>
        <p:spPr>
          <a:xfrm>
            <a:off x="5577840" y="5001768"/>
            <a:ext cx="6080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src/front/src/componentes/acesso/RotaProtegida.tsx e utils/estilos.ts (trecho resumido)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Qualidade e encerramento</a:t>
            </a:r>
            <a:endParaRPr lang="en-US" sz="3200" dirty="0"/>
          </a:p>
        </p:txBody>
      </p:sp>
      <p:sp>
        <p:nvSpPr>
          <p:cNvPr id="3" name="cartao-101"/>
          <p:cNvSpPr/>
          <p:nvPr/>
        </p:nvSpPr>
        <p:spPr>
          <a:xfrm>
            <a:off x="548640" y="1371600"/>
            <a:ext cx="361188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texto-102"/>
          <p:cNvSpPr txBox="1"/>
          <p:nvPr/>
        </p:nvSpPr>
        <p:spPr>
          <a:xfrm>
            <a:off x="548640" y="146304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accent1"/>
                </a:solidFill>
              </a:rPr>
              <a:t>207</a:t>
            </a:r>
            <a:endParaRPr lang="en-US" sz="6600" dirty="0"/>
          </a:p>
        </p:txBody>
      </p:sp>
      <p:sp>
        <p:nvSpPr>
          <p:cNvPr id="5" name="texto-103"/>
          <p:cNvSpPr txBox="1"/>
          <p:nvPr/>
        </p:nvSpPr>
        <p:spPr>
          <a:xfrm>
            <a:off x="731520" y="28346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testes do back-end</a:t>
            </a:r>
            <a:endParaRPr lang="en-US" sz="1800" dirty="0"/>
          </a:p>
        </p:txBody>
      </p:sp>
      <p:sp>
        <p:nvSpPr>
          <p:cNvPr id="6" name="cartao-104"/>
          <p:cNvSpPr/>
          <p:nvPr/>
        </p:nvSpPr>
        <p:spPr>
          <a:xfrm>
            <a:off x="4297680" y="1371600"/>
            <a:ext cx="361188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7" name="texto-105"/>
          <p:cNvSpPr txBox="1"/>
          <p:nvPr/>
        </p:nvSpPr>
        <p:spPr>
          <a:xfrm>
            <a:off x="4297680" y="146304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accent3"/>
                </a:solidFill>
              </a:rPr>
              <a:t>147</a:t>
            </a:r>
            <a:endParaRPr lang="en-US" sz="6600" dirty="0"/>
          </a:p>
        </p:txBody>
      </p:sp>
      <p:sp>
        <p:nvSpPr>
          <p:cNvPr id="8" name="texto-106"/>
          <p:cNvSpPr txBox="1"/>
          <p:nvPr/>
        </p:nvSpPr>
        <p:spPr>
          <a:xfrm>
            <a:off x="4480560" y="28346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testes do front-end</a:t>
            </a:r>
            <a:endParaRPr lang="en-US" sz="1800" dirty="0"/>
          </a:p>
        </p:txBody>
      </p:sp>
      <p:sp>
        <p:nvSpPr>
          <p:cNvPr id="9" name="cartao-107"/>
          <p:cNvSpPr/>
          <p:nvPr/>
        </p:nvSpPr>
        <p:spPr>
          <a:xfrm>
            <a:off x="8046720" y="1371600"/>
            <a:ext cx="361188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0" name="texto-108"/>
          <p:cNvSpPr txBox="1"/>
          <p:nvPr/>
        </p:nvSpPr>
        <p:spPr>
          <a:xfrm>
            <a:off x="8046720" y="1463040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accent5"/>
                </a:solidFill>
              </a:rPr>
              <a:t>46</a:t>
            </a:r>
            <a:endParaRPr lang="en-US" sz="6600" dirty="0"/>
          </a:p>
        </p:txBody>
      </p:sp>
      <p:sp>
        <p:nvSpPr>
          <p:cNvPr id="11" name="texto-109"/>
          <p:cNvSpPr txBox="1"/>
          <p:nvPr/>
        </p:nvSpPr>
        <p:spPr>
          <a:xfrm>
            <a:off x="8229600" y="28346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verificações no navegador</a:t>
            </a:r>
            <a:endParaRPr lang="en-US" sz="1800" dirty="0"/>
          </a:p>
        </p:txBody>
      </p:sp>
      <p:sp>
        <p:nvSpPr>
          <p:cNvPr id="12" name="texto-110"/>
          <p:cNvSpPr txBox="1"/>
          <p:nvPr/>
        </p:nvSpPr>
        <p:spPr>
          <a:xfrm>
            <a:off x="548640" y="3840480"/>
            <a:ext cx="6675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Envios e resgates simultâneos testados contra o PostgreSQL real; o saldo nunca fica negativo.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Próximos passos: agendar o crédito do semestre e validar o envio real pelo Gmail.</a:t>
            </a:r>
            <a:endParaRPr lang="en-US" sz="1600" dirty="0"/>
          </a:p>
        </p:txBody>
      </p:sp>
      <p:sp>
        <p:nvSpPr>
          <p:cNvPr id="13" name="painel-codigo-111"/>
          <p:cNvSpPr/>
          <p:nvPr/>
        </p:nvSpPr>
        <p:spPr>
          <a:xfrm>
            <a:off x="7498080" y="3840480"/>
            <a:ext cx="4160520" cy="1325880"/>
          </a:xfrm>
          <a:prstGeom prst="roundRect">
            <a:avLst>
              <a:gd name="adj" fmla="val 6897"/>
            </a:avLst>
          </a:prstGeom>
          <a:solidFill>
            <a:schemeClr val="tx1"/>
          </a:solidFill>
          <a:ln/>
        </p:spPr>
      </p:sp>
      <p:sp>
        <p:nvSpPr>
          <p:cNvPr id="14" name="texto-112"/>
          <p:cNvSpPr txBox="1"/>
          <p:nvPr/>
        </p:nvSpPr>
        <p:spPr>
          <a:xfrm>
            <a:off x="7726680" y="4023360"/>
            <a:ext cx="3703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-d --build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front: localhost:5173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API:   localhost:8000/docs</a:t>
            </a:r>
            <a:endParaRPr lang="en-US" sz="1300" dirty="0"/>
          </a:p>
        </p:txBody>
      </p:sp>
      <p:sp>
        <p:nvSpPr>
          <p:cNvPr id="15" name="texto-113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github.com/lucaslmchaves/sistema-moeda-estudantil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eda Estudantil">
  <a:themeElements>
    <a:clrScheme name="Moeda Estudantil">
      <a:dk1>
        <a:srgbClr val="1E1B4B"/>
      </a:dk1>
      <a:lt1>
        <a:srgbClr val="FFFFFF"/>
      </a:lt1>
      <a:dk2>
        <a:srgbClr val="312E81"/>
      </a:dk2>
      <a:lt2>
        <a:srgbClr val="EEF2FF"/>
      </a:lt2>
      <a:accent1>
        <a:srgbClr val="4F46E5"/>
      </a:accent1>
      <a:accent2>
        <a:srgbClr val="F59E0B"/>
      </a:accent2>
      <a:accent3>
        <a:srgbClr val="059669"/>
      </a:accent3>
      <a:accent4>
        <a:srgbClr val="DC2626"/>
      </a:accent4>
      <a:accent5>
        <a:srgbClr val="0284C7"/>
      </a:accent5>
      <a:accent6>
        <a:srgbClr val="64748B"/>
      </a:accent6>
      <a:hlink>
        <a:srgbClr val="4F46E5"/>
      </a:hlink>
      <a:folHlink>
        <a:srgbClr val="6D28D9"/>
      </a:folHlink>
    </a:clrScheme>
    <a:fontScheme name="Moeda Estudanti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Moeda Estudantil - Apresentação final</dc:title>
  <dc:subject>Laboratório de Desenvolvimento de Software - Sprint 3</dc:subject>
  <dc:creator>Lucas Lima Magalhães Lafetá Chaves</dc:creator>
  <cp:lastModifiedBy>Lucas Lima Magalhães Lafetá Chaves</cp:lastModifiedBy>
  <cp:revision>1</cp:revision>
  <dcterms:created xsi:type="dcterms:W3CDTF">2026-10-30T20:42:54Z</dcterms:created>
  <dcterms:modified xsi:type="dcterms:W3CDTF">2026-10-30T20:42:54Z</dcterms:modified>
</cp:coreProperties>
</file>