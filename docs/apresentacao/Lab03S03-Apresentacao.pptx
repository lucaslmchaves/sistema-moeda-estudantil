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 trabalho" id="{e16d8be7-bba4-0436-f4c8-8f2e9b5cc70f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Oficina" id="{b7b67ae8-13de-f094-69b0-ce76f8582603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tarde, eu sou o Lucas e vou apresentar o Sistema de Moeda Estudantil, o projeto do Laboratório de Desenvolvimento de Software. Primeiro mostro o que foi construído e a aplicação funcionando; depois, em formato de oficina, as tecnologias que usei, camada por camada, e como começar a usar cada uma.
[Tempo: 0:10 | Dica: Sorria, olhe para a turma e não leia o slide.]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ideia é reconhecer o mérito dos alunos. O professor recebe mil moedas por semestre e envia aos alunos com uma mensagem explicando o motivo. O aluno acumula as moedas e troca por vantagens oferecidas por empresas parceiras. A empresa cadastra a vantagem com foto e custo e confere o código do cupom que o aluno apresenta. Todos entram com login e senha e o sistema manda e-mails automáticos.
[Tempo: 0:40 | Dica: Aponte para os três cartões da esquerda para a direita, seguindo as setas.]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 o padrão MVC em camadas. O React é a View, o FastAPI é o Controller, os serviços e as entidades formam o Model, e a persistência fica com repositórios, SQLAlchemy e PostgreSQL. Cada camada só conversa com a de baixo, por interfaces. Por isso dá para testar as regras sem banco e trocar o banco sem mexer nelas. O e-mail é um sistema externo ligado por uma interface.
[Tempo: 0:40 | Dica: Percorra o diagrama de cima para baixo com o ponteiro. O diagrama de classes está no README, se alguém perguntar.]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a aplicação funcionando. À esquerda o cadastro do aluno, com validação em português por campo. À direita a empresa com as vantagens que cadastrou: descrição, custo e a foto do produto. Cada perfil só enxerga as telas dele: a empresa não acessa o extrato e o aluno não acessa o envio de moedas.
[Tempo: 0:40 | Dica: Se for fazer a demonstração ao vivo, é aqui: cadastre uma empresa e uma vantagem (roteiro no fim deste guia). Senão, narre os prints.]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o coração do sistema. O professor escolhe o aluno, informa o valor e o motivo, que é obrigatório. O saldo é conferido antes e o aluno recebe um e-mail. Do lado do aluno, ao resgatar uma vantagem o saldo é descontado e o sistema gera um código de cupom. O botão de resgatar fica desabilitado quando o saldo não cobre o custo.
[Tempo: 0:45 | Dica: Destaque dois pontos: o motivo obrigatório e o código do cupom na mensagem de sucesso.]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extrato do aluno mostra o saldo e cada movimentação: o que entrou, em verde, e o que saiu, em vermelho. No resgate saem dois e-mails. O primeiro vai para o aluno, com o cupom. O segundo vai para a empresa, avisando que aquele aluno resgatou a vantagem. O código é o mesmo nos dois de propósito: o aluno apresenta o cupom na empresa e ela confere se bate com o código que recebeu. À direita, o print dos e-mails que chegaram de verdade na minha caixa do Gmail durante o teste, incluindo o aviso de moedas recebidas. O envio usa o SMTP do Gmail configurado no arquivo .env; sem credenciais, o texto aparece no log da API e nada é enviado.
[Tempo: 0:35 | Dica: Aponte para o print à direita: são e-mails reais, recebidos no celular. Se perguntarem por que o código se repete: é a forma de a empresa conferir o cupom do aluno. Se o computador da apresentação não tiver o .env, o texto aparece só no log.]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a oficina. Vou seguir as mesmas camadas do MVC, porque cada tecnologia mora em uma delas. Na View, React, TypeScript e Tailwind. No Controller, FastAPI e Pydantic para a API, e JWT e bcrypt para a segurança. No Model ficam as regras de negócio, em Python puro. Na persistência, SQLAlchemy, PostgreSQL e Alembic. E no ambiente, o Docker Compose. Em cada uma mostro um exemplo pequeno e como usar.
[Tempo: 0:30 | Dica: Passe o dedo pelas linhas de cima para baixo. Os exemplos das próximas telas são genéricos (cadastro de livros), não são do código do projeto.]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Começando pela tela. O React monta a interface com componentes, que são funções que devolvem um pedaço de tela. O TypeScript acrescenta tipos ao JavaScript e avisa de erros antes de rodar. Para começar, crio o projeto com o Vite, instalo e rodo. No exemplo, declaro o tipo Livro, guardo a lista no estado, busco na API quando o componente aparece e desenho uma lista. Se a API devolver algo fora do tipo, o editor já reclama.
[Tempo: 0:45 | Dica: Leia o código em quatro pedaços: o tipo, o estado, a busca e o que é desenhado.]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na View, o Tailwind. Em vez de escrever um arquivo de CSS, eu uso classes prontas direto no elemento. Cada classe faz uma coisa: px-4 é o espaço lateral, bg-indigo-600 é a cor de fundo, hover muda a cor quando passa o mouse. Para usar, instalo o pacote, registro o plugin no Vite e importo o Tailwind no CSS principal. Depois é só combinar as classes no className.
[Tempo: 0:35 | Dica: Aponte para o botão e leia duas ou três classes, sem listar todas.]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 o Controller, a API. O FastAPI transforma uma função com um decorador em uma rota HTTP. O Pydantic descreve o formato dos dados: no exemplo, o título não pode ser vazio e as páginas têm que ser maiores que zero. Se alguém mandar errado, a API já responde com erro 422 explicando o campo, como mostra o painel de baixo. Rodando com o uvicorn, a página barra docs mostra a documentação e deixa testar a rota no navegador.
[Tempo: 0:45 | Dica: Cite http://localhost:8000/docs: é um bom momento para perguntar quem já fez uma API.]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Ainda no Controller, a segurança. A senha nunca é guardada como texto: o bcrypt gera um hash com salt, e só ele vai para o banco. No login, o servidor confere a senha e devolve um token JWT, assinado com um segredo e com validade. Nas rotas protegidas, o front envia o token no cabeçalho Authorization, o servidor valida a assinatura e descobre quem fez o pedido, sem guardar sessão.
[Tempo: 0:40 | Dica: Frase-chave: o servidor não guarda sessão, o token identifica quem pediu.]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Descendo para a persistência. O SQLAlchemy é um ORM: cada classe vira uma tabela e cada objeto, uma linha. Declaro a classe, aponto para o banco na engine e escrevo um repositório, que é uma classe que guarda e busca os objetos. As regras de negócio chamam o repositório sem saber que existe um banco por trás, e é isso que permite testar com repositórios falsos.
[Tempo: 0:40 | Dica: Conecte com a arquitetura: no projeto o repositório tem uma interface, e o serviço depende dela.]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banco é o PostgreSQL, que guarda os dados em tabelas, com chaves e restrições. E para o esquema não depender de ninguém lembrar o que mudou, uso o Alembic: cada alteração vira um arquivo de migração, com uma função para aplicar e outra para desfazer. Gero com autogenerate, aplico com upgrade head, e qualquer máquina chega ao mesmo esquema. Embaixo, o resultado visto no psql.
[Tempo: 0:35 | Dica: Se sobrar tempo, comente que a migração do projeto é aplicada sozinha quando o contêiner da API sobe.]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fim, o ambiente. O Docker empacota cada serviço em um contêiner, descrito por um Dockerfile. O Compose liga os três, banco, API e front, em um único arquivo. Com um comando, docker compose up, tudo sobe junto, e quem baixar o projeto não precisa instalar Python, Node nem PostgreSQL. Para limpar tudo, docker compose down com a opção menos v.
[Tempo: 0:35 | Dica: Os comandos do slide são os mesmos que usará na demonstração ao vivo.]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Era isso. Muito obrigado pela atenção. O código, os diagramas e as instruções para rodar estão no GitHub.
[Tempo: 0:10 | Dica: Deixe este slide na tela durante as perguntas.]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1051560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82880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600" b="1" dirty="0">
                <a:solidFill>
                  <a:schemeClr val="bg1"/>
                </a:solidFill>
              </a:rPr>
              <a:t>Sistema de Moeda Estudantil</a:t>
            </a:r>
            <a:endParaRPr lang="en-US" sz="5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11880"/>
            <a:ext cx="10515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Laboratório de Desenvolvimento de Software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Profa. Milena Menezes Adão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2"/>
                </a:solidFill>
              </a:rPr>
              <a:t> </a:t>
            </a:r>
            <a:endParaRPr lang="en-US" sz="20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Lucas Lima Magalhães Lafetá Chaves</a:t>
            </a:r>
            <a:endParaRPr lang="en-US" sz="2000" dirty="0"/>
          </a:p>
        </p:txBody>
      </p:sp>
      <p:sp>
        <p:nvSpPr>
          <p:cNvPr id="4" name="circulo-1"/>
          <p:cNvSpPr/>
          <p:nvPr/>
        </p:nvSpPr>
        <p:spPr>
          <a:xfrm>
            <a:off x="10241280" y="640080"/>
            <a:ext cx="1188720" cy="11887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o-2"/>
          <p:cNvSpPr txBox="1"/>
          <p:nvPr/>
        </p:nvSpPr>
        <p:spPr>
          <a:xfrm>
            <a:off x="10241280" y="6400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chemeClr val="bg1"/>
                </a:solidFill>
              </a:rPr>
              <a:t>🪙</a:t>
            </a:r>
            <a:endParaRPr lang="en-US" sz="3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Como o sistema funciona</a:t>
            </a:r>
            <a:endParaRPr lang="en-US" sz="3200" dirty="0"/>
          </a:p>
        </p:txBody>
      </p:sp>
      <p:sp>
        <p:nvSpPr>
          <p:cNvPr id="3" name="cartao-3"/>
          <p:cNvSpPr/>
          <p:nvPr/>
        </p:nvSpPr>
        <p:spPr>
          <a:xfrm>
            <a:off x="548640" y="1737360"/>
            <a:ext cx="3154680" cy="356616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4" name="circulo-4"/>
          <p:cNvSpPr/>
          <p:nvPr/>
        </p:nvSpPr>
        <p:spPr>
          <a:xfrm>
            <a:off x="822960" y="20116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o-5"/>
          <p:cNvSpPr txBox="1"/>
          <p:nvPr/>
        </p:nvSpPr>
        <p:spPr>
          <a:xfrm>
            <a:off x="82296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🏫</a:t>
            </a:r>
            <a:endParaRPr lang="en-US" sz="2600" dirty="0"/>
          </a:p>
        </p:txBody>
      </p:sp>
      <p:sp>
        <p:nvSpPr>
          <p:cNvPr id="6" name="texto-6"/>
          <p:cNvSpPr txBox="1"/>
          <p:nvPr/>
        </p:nvSpPr>
        <p:spPr>
          <a:xfrm>
            <a:off x="1920240" y="20116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Professor</a:t>
            </a:r>
            <a:endParaRPr lang="en-US" sz="2200" dirty="0"/>
          </a:p>
        </p:txBody>
      </p:sp>
      <p:sp>
        <p:nvSpPr>
          <p:cNvPr id="7" name="texto-7"/>
          <p:cNvSpPr txBox="1"/>
          <p:nvPr/>
        </p:nvSpPr>
        <p:spPr>
          <a:xfrm>
            <a:off x="822960" y="329184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Recebe 1.000 moedas por semestre e reconhece alunos com moedas e uma mensagem.</a:t>
            </a:r>
            <a:endParaRPr lang="en-US" sz="1900" dirty="0"/>
          </a:p>
        </p:txBody>
      </p:sp>
      <p:sp>
        <p:nvSpPr>
          <p:cNvPr id="8" name="cartao-8"/>
          <p:cNvSpPr/>
          <p:nvPr/>
        </p:nvSpPr>
        <p:spPr>
          <a:xfrm>
            <a:off x="4526280" y="1737360"/>
            <a:ext cx="3154680" cy="356616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9" name="circulo-9"/>
          <p:cNvSpPr/>
          <p:nvPr/>
        </p:nvSpPr>
        <p:spPr>
          <a:xfrm>
            <a:off x="4800600" y="201168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0" name="texto-10"/>
          <p:cNvSpPr txBox="1"/>
          <p:nvPr/>
        </p:nvSpPr>
        <p:spPr>
          <a:xfrm>
            <a:off x="480060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🎓</a:t>
            </a:r>
            <a:endParaRPr lang="en-US" sz="2600" dirty="0"/>
          </a:p>
        </p:txBody>
      </p:sp>
      <p:sp>
        <p:nvSpPr>
          <p:cNvPr id="11" name="texto-11"/>
          <p:cNvSpPr txBox="1"/>
          <p:nvPr/>
        </p:nvSpPr>
        <p:spPr>
          <a:xfrm>
            <a:off x="5897880" y="20116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Aluno</a:t>
            </a:r>
            <a:endParaRPr lang="en-US" sz="2200" dirty="0"/>
          </a:p>
        </p:txBody>
      </p:sp>
      <p:sp>
        <p:nvSpPr>
          <p:cNvPr id="12" name="texto-12"/>
          <p:cNvSpPr txBox="1"/>
          <p:nvPr/>
        </p:nvSpPr>
        <p:spPr>
          <a:xfrm>
            <a:off x="4800600" y="329184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Acumula as moedas, consulta o extrato e troca por vantagens das empresas.</a:t>
            </a:r>
            <a:endParaRPr lang="en-US" sz="1900" dirty="0"/>
          </a:p>
        </p:txBody>
      </p:sp>
      <p:sp>
        <p:nvSpPr>
          <p:cNvPr id="13" name="cartao-13"/>
          <p:cNvSpPr/>
          <p:nvPr/>
        </p:nvSpPr>
        <p:spPr>
          <a:xfrm>
            <a:off x="8503920" y="1737360"/>
            <a:ext cx="3154680" cy="356616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/>
        </p:spPr>
      </p:sp>
      <p:sp>
        <p:nvSpPr>
          <p:cNvPr id="14" name="circulo-14"/>
          <p:cNvSpPr/>
          <p:nvPr/>
        </p:nvSpPr>
        <p:spPr>
          <a:xfrm>
            <a:off x="8778240" y="2011680"/>
            <a:ext cx="914400" cy="91440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5" name="texto-15"/>
          <p:cNvSpPr txBox="1"/>
          <p:nvPr/>
        </p:nvSpPr>
        <p:spPr>
          <a:xfrm>
            <a:off x="8778240" y="20116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🏢</a:t>
            </a:r>
            <a:endParaRPr lang="en-US" sz="2600" dirty="0"/>
          </a:p>
        </p:txBody>
      </p:sp>
      <p:sp>
        <p:nvSpPr>
          <p:cNvPr id="16" name="texto-16"/>
          <p:cNvSpPr txBox="1"/>
          <p:nvPr/>
        </p:nvSpPr>
        <p:spPr>
          <a:xfrm>
            <a:off x="9875520" y="2011680"/>
            <a:ext cx="1691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Empresa parceira</a:t>
            </a:r>
            <a:endParaRPr lang="en-US" sz="2200" dirty="0"/>
          </a:p>
        </p:txBody>
      </p:sp>
      <p:sp>
        <p:nvSpPr>
          <p:cNvPr id="17" name="texto-17"/>
          <p:cNvSpPr txBox="1"/>
          <p:nvPr/>
        </p:nvSpPr>
        <p:spPr>
          <a:xfrm>
            <a:off x="8778240" y="329184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Cadastra vantagens com foto e custo em moedas e confere o cupom do aluno.</a:t>
            </a:r>
            <a:endParaRPr lang="en-US" sz="1900" dirty="0"/>
          </a:p>
        </p:txBody>
      </p:sp>
      <p:sp>
        <p:nvSpPr>
          <p:cNvPr id="18" name="seta-18"/>
          <p:cNvSpPr/>
          <p:nvPr/>
        </p:nvSpPr>
        <p:spPr>
          <a:xfrm>
            <a:off x="3703320" y="3246120"/>
            <a:ext cx="822960" cy="4572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9" name="texto-19"/>
          <p:cNvSpPr txBox="1"/>
          <p:nvPr/>
        </p:nvSpPr>
        <p:spPr>
          <a:xfrm>
            <a:off x="370332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envia moedas</a:t>
            </a:r>
            <a:endParaRPr lang="en-US" sz="1300" dirty="0"/>
          </a:p>
        </p:txBody>
      </p:sp>
      <p:sp>
        <p:nvSpPr>
          <p:cNvPr id="20" name="seta-20"/>
          <p:cNvSpPr/>
          <p:nvPr/>
        </p:nvSpPr>
        <p:spPr>
          <a:xfrm>
            <a:off x="7680960" y="3246120"/>
            <a:ext cx="822960" cy="45720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1" name="texto-21"/>
          <p:cNvSpPr txBox="1"/>
          <p:nvPr/>
        </p:nvSpPr>
        <p:spPr>
          <a:xfrm>
            <a:off x="7680960" y="37490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resgata vantagem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Arquitetura em camadas (MVC)</a:t>
            </a:r>
            <a:endParaRPr lang="en-US" sz="3200" dirty="0"/>
          </a:p>
        </p:txBody>
      </p:sp>
      <p:pic>
        <p:nvPicPr>
          <p:cNvPr id="3" name="imagem-22" descr="Diagrama de componentes com as camadas View, Controller, Model e Persistênc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7589520" cy="5024317"/>
          </a:xfrm>
          <a:prstGeom prst="rect">
            <a:avLst/>
          </a:prstGeom>
        </p:spPr>
      </p:pic>
      <p:sp>
        <p:nvSpPr>
          <p:cNvPr id="4" name="cartao-23"/>
          <p:cNvSpPr/>
          <p:nvPr/>
        </p:nvSpPr>
        <p:spPr>
          <a:xfrm>
            <a:off x="8366760" y="141732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5" name="marcador-24"/>
          <p:cNvSpPr/>
          <p:nvPr/>
        </p:nvSpPr>
        <p:spPr>
          <a:xfrm>
            <a:off x="8549640" y="1783080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6" name="texto-25"/>
          <p:cNvSpPr txBox="1"/>
          <p:nvPr/>
        </p:nvSpPr>
        <p:spPr>
          <a:xfrm>
            <a:off x="909828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View</a:t>
            </a:r>
            <a:endParaRPr lang="en-US" sz="1800" dirty="0"/>
          </a:p>
        </p:txBody>
      </p:sp>
      <p:sp>
        <p:nvSpPr>
          <p:cNvPr id="7" name="texto-26"/>
          <p:cNvSpPr txBox="1"/>
          <p:nvPr/>
        </p:nvSpPr>
        <p:spPr>
          <a:xfrm>
            <a:off x="9098280" y="19202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React + TypeScript consome a API por HTTP</a:t>
            </a:r>
            <a:endParaRPr lang="en-US" sz="1300" dirty="0"/>
          </a:p>
        </p:txBody>
      </p:sp>
      <p:sp>
        <p:nvSpPr>
          <p:cNvPr id="8" name="cartao-27"/>
          <p:cNvSpPr/>
          <p:nvPr/>
        </p:nvSpPr>
        <p:spPr>
          <a:xfrm>
            <a:off x="8366760" y="265176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marcador-28"/>
          <p:cNvSpPr/>
          <p:nvPr/>
        </p:nvSpPr>
        <p:spPr>
          <a:xfrm>
            <a:off x="8549640" y="301752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o-29"/>
          <p:cNvSpPr txBox="1"/>
          <p:nvPr/>
        </p:nvSpPr>
        <p:spPr>
          <a:xfrm>
            <a:off x="9098280" y="276148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Controller</a:t>
            </a:r>
            <a:endParaRPr lang="en-US" sz="1800" dirty="0"/>
          </a:p>
        </p:txBody>
      </p:sp>
      <p:sp>
        <p:nvSpPr>
          <p:cNvPr id="11" name="texto-30"/>
          <p:cNvSpPr txBox="1"/>
          <p:nvPr/>
        </p:nvSpPr>
        <p:spPr>
          <a:xfrm>
            <a:off x="9098280" y="31546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FastAPI: rotas, validação e perfis</a:t>
            </a:r>
            <a:endParaRPr lang="en-US" sz="1300" dirty="0"/>
          </a:p>
        </p:txBody>
      </p:sp>
      <p:sp>
        <p:nvSpPr>
          <p:cNvPr id="12" name="cartao-31"/>
          <p:cNvSpPr/>
          <p:nvPr/>
        </p:nvSpPr>
        <p:spPr>
          <a:xfrm>
            <a:off x="8366760" y="388620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3" name="marcador-32"/>
          <p:cNvSpPr/>
          <p:nvPr/>
        </p:nvSpPr>
        <p:spPr>
          <a:xfrm>
            <a:off x="8549640" y="4251960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o-33"/>
          <p:cNvSpPr txBox="1"/>
          <p:nvPr/>
        </p:nvSpPr>
        <p:spPr>
          <a:xfrm>
            <a:off x="9098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</a:t>
            </a:r>
            <a:endParaRPr lang="en-US" sz="1800" dirty="0"/>
          </a:p>
        </p:txBody>
      </p:sp>
      <p:sp>
        <p:nvSpPr>
          <p:cNvPr id="15" name="texto-34"/>
          <p:cNvSpPr txBox="1"/>
          <p:nvPr/>
        </p:nvSpPr>
        <p:spPr>
          <a:xfrm>
            <a:off x="9098280" y="4389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Serviços de regra de negócio e entidades</a:t>
            </a:r>
            <a:endParaRPr lang="en-US" sz="1300" dirty="0"/>
          </a:p>
        </p:txBody>
      </p:sp>
      <p:sp>
        <p:nvSpPr>
          <p:cNvPr id="16" name="cartao-35"/>
          <p:cNvSpPr/>
          <p:nvPr/>
        </p:nvSpPr>
        <p:spPr>
          <a:xfrm>
            <a:off x="8366760" y="5120640"/>
            <a:ext cx="32918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7" name="marcador-36"/>
          <p:cNvSpPr/>
          <p:nvPr/>
        </p:nvSpPr>
        <p:spPr>
          <a:xfrm>
            <a:off x="8549640" y="5486400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o-37"/>
          <p:cNvSpPr txBox="1"/>
          <p:nvPr/>
        </p:nvSpPr>
        <p:spPr>
          <a:xfrm>
            <a:off x="9098280" y="52303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Persistência</a:t>
            </a:r>
            <a:endParaRPr lang="en-US" sz="1800" dirty="0"/>
          </a:p>
        </p:txBody>
      </p:sp>
      <p:sp>
        <p:nvSpPr>
          <p:cNvPr id="19" name="texto-38"/>
          <p:cNvSpPr txBox="1"/>
          <p:nvPr/>
        </p:nvSpPr>
        <p:spPr>
          <a:xfrm>
            <a:off x="9098280" y="56235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Repositórios, SQLAlchemy e PostgreSQL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cadastro, login e vantagens</a:t>
            </a:r>
            <a:endParaRPr lang="en-US" sz="3200" dirty="0"/>
          </a:p>
        </p:txBody>
      </p:sp>
      <p:pic>
        <p:nvPicPr>
          <p:cNvPr id="3" name="imagem-39" descr="Cadastro do aluno, com erros por camp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40680" cy="3074551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40" descr="A empresa cadastra vantagens com fot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25880"/>
            <a:ext cx="5440680" cy="208276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41"/>
          <p:cNvSpPr txBox="1"/>
          <p:nvPr/>
        </p:nvSpPr>
        <p:spPr>
          <a:xfrm>
            <a:off x="548640" y="4583311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Cadastro do aluno, com erros por campo</a:t>
            </a:r>
            <a:endParaRPr lang="en-US" sz="1500" dirty="0"/>
          </a:p>
        </p:txBody>
      </p:sp>
      <p:sp>
        <p:nvSpPr>
          <p:cNvPr id="6" name="texto-42"/>
          <p:cNvSpPr txBox="1"/>
          <p:nvPr/>
        </p:nvSpPr>
        <p:spPr>
          <a:xfrm>
            <a:off x="6199632" y="4583311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 empresa cadastra vantagens com foto</a:t>
            </a:r>
            <a:endParaRPr lang="en-US" sz="1500" dirty="0"/>
          </a:p>
        </p:txBody>
      </p:sp>
      <p:sp>
        <p:nvSpPr>
          <p:cNvPr id="7" name="cartao-43"/>
          <p:cNvSpPr/>
          <p:nvPr/>
        </p:nvSpPr>
        <p:spPr>
          <a:xfrm>
            <a:off x="548640" y="5223391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</p:sp>
      <p:sp>
        <p:nvSpPr>
          <p:cNvPr id="8" name="texto-44"/>
          <p:cNvSpPr txBox="1"/>
          <p:nvPr/>
        </p:nvSpPr>
        <p:spPr>
          <a:xfrm>
            <a:off x="822960" y="5287399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Cada perfil só enxerga as próprias telas: a empresa não acessa o extrato e o aluno não acessa o envio de moedas.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Demonstração: envio de moedas e resgate</a:t>
            </a:r>
            <a:endParaRPr lang="en-US" sz="3200" dirty="0"/>
          </a:p>
        </p:txBody>
      </p:sp>
      <p:pic>
        <p:nvPicPr>
          <p:cNvPr id="3" name="imagem-45" descr="Professor: aluno, valor e motivo obrigatór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40680" cy="286485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pic>
        <p:nvPicPr>
          <p:cNvPr id="4" name="imagem-46" descr="Aluno: resgate com o código do cupo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325880"/>
            <a:ext cx="5440680" cy="2842189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5" name="texto-47"/>
          <p:cNvSpPr txBox="1"/>
          <p:nvPr/>
        </p:nvSpPr>
        <p:spPr>
          <a:xfrm>
            <a:off x="548640" y="437361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Professor: aluno, valor e motivo obrigatório</a:t>
            </a:r>
            <a:endParaRPr lang="en-US" sz="1500" dirty="0"/>
          </a:p>
        </p:txBody>
      </p:sp>
      <p:sp>
        <p:nvSpPr>
          <p:cNvPr id="6" name="texto-48"/>
          <p:cNvSpPr txBox="1"/>
          <p:nvPr/>
        </p:nvSpPr>
        <p:spPr>
          <a:xfrm>
            <a:off x="6199632" y="4373618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Aluno: resgate com o código do cupom</a:t>
            </a:r>
            <a:endParaRPr lang="en-US" sz="1500" dirty="0"/>
          </a:p>
        </p:txBody>
      </p:sp>
      <p:sp>
        <p:nvSpPr>
          <p:cNvPr id="7" name="cartao-49"/>
          <p:cNvSpPr/>
          <p:nvPr/>
        </p:nvSpPr>
        <p:spPr>
          <a:xfrm>
            <a:off x="548640" y="5013698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</p:sp>
      <p:sp>
        <p:nvSpPr>
          <p:cNvPr id="8" name="texto-50"/>
          <p:cNvSpPr txBox="1"/>
          <p:nvPr/>
        </p:nvSpPr>
        <p:spPr>
          <a:xfrm>
            <a:off x="822960" y="5077706"/>
            <a:ext cx="10561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saldo é conferido antes de cada envio e de cada resgate, e o botão de resgatar fica desabilitado sem saldo.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Extrato e e-mails</a:t>
            </a:r>
            <a:endParaRPr lang="en-US" sz="3200" dirty="0"/>
          </a:p>
        </p:txBody>
      </p:sp>
      <p:pic>
        <p:nvPicPr>
          <p:cNvPr id="3" name="imagem-51" descr="Extrato do aluno com recebimento e resg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035040" cy="2348008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4" name="texto-52"/>
          <p:cNvSpPr txBox="1"/>
          <p:nvPr/>
        </p:nvSpPr>
        <p:spPr>
          <a:xfrm>
            <a:off x="548640" y="38110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Extrato do aluno: o que entrou e o que saiu</a:t>
            </a:r>
            <a:endParaRPr lang="en-US" sz="1400" dirty="0"/>
          </a:p>
        </p:txBody>
      </p:sp>
      <p:sp>
        <p:nvSpPr>
          <p:cNvPr id="5" name="texto-53"/>
          <p:cNvSpPr txBox="1"/>
          <p:nvPr/>
        </p:nvSpPr>
        <p:spPr>
          <a:xfrm>
            <a:off x="548640" y="4663440"/>
            <a:ext cx="6035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No resgate saem dois e-mails: o cupom para o aluno e o aviso para a empresa.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O código é o mesmo nos dois de propósito: o aluno apresenta o cupom e a empresa confere com o código que recebeu.</a:t>
            </a:r>
            <a:endParaRPr lang="en-US" sz="1700" dirty="0"/>
          </a:p>
        </p:txBody>
      </p:sp>
      <p:pic>
        <p:nvPicPr>
          <p:cNvPr id="6" name="imagem-54" descr="Os três e-mails recebidos na caixa do Gmai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073" y="1325880"/>
            <a:ext cx="2564166" cy="4663440"/>
          </a:xfrm>
          <a:prstGeom prst="rect">
            <a:avLst/>
          </a:prstGeom>
          <a:effectLst>
            <a:outerShdw sx="100000" sy="100000" kx="0" ky="0" algn="bl" rotWithShape="0" blurRad="101600" dist="25400" dir="5400000">
              <a:srgbClr val="000000">
                <a:alpha val="18000"/>
              </a:srgbClr>
            </a:outerShdw>
          </a:effectLst>
        </p:spPr>
      </p:pic>
      <p:sp>
        <p:nvSpPr>
          <p:cNvPr id="7" name="texto-55"/>
          <p:cNvSpPr txBox="1"/>
          <p:nvPr/>
        </p:nvSpPr>
        <p:spPr>
          <a:xfrm>
            <a:off x="6858000" y="612648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E-mails recebidos no Gmail durante o teste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Oficina: as tecnologias por camada</a:t>
            </a:r>
            <a:endParaRPr lang="en-US" sz="3200" dirty="0"/>
          </a:p>
        </p:txBody>
      </p:sp>
      <p:sp>
        <p:nvSpPr>
          <p:cNvPr id="3" name="cartao-56"/>
          <p:cNvSpPr/>
          <p:nvPr/>
        </p:nvSpPr>
        <p:spPr>
          <a:xfrm>
            <a:off x="548640" y="137160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dor-57"/>
          <p:cNvSpPr/>
          <p:nvPr/>
        </p:nvSpPr>
        <p:spPr>
          <a:xfrm>
            <a:off x="822960" y="1627632"/>
            <a:ext cx="365760" cy="36576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o-58"/>
          <p:cNvSpPr txBox="1"/>
          <p:nvPr/>
        </p:nvSpPr>
        <p:spPr>
          <a:xfrm>
            <a:off x="1417320" y="13716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View</a:t>
            </a:r>
            <a:endParaRPr lang="en-US" sz="2000" dirty="0"/>
          </a:p>
        </p:txBody>
      </p:sp>
      <p:sp>
        <p:nvSpPr>
          <p:cNvPr id="6" name="texto-59"/>
          <p:cNvSpPr txBox="1"/>
          <p:nvPr/>
        </p:nvSpPr>
        <p:spPr>
          <a:xfrm>
            <a:off x="3566160" y="137160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React · TypeScript · Tailwind</a:t>
            </a:r>
            <a:endParaRPr lang="en-US" sz="1600" dirty="0"/>
          </a:p>
        </p:txBody>
      </p:sp>
      <p:sp>
        <p:nvSpPr>
          <p:cNvPr id="7" name="texto-60"/>
          <p:cNvSpPr txBox="1"/>
          <p:nvPr/>
        </p:nvSpPr>
        <p:spPr>
          <a:xfrm>
            <a:off x="7498080" y="137160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tela no navegador: componentes, tipos e estilo.</a:t>
            </a:r>
            <a:endParaRPr lang="en-US" sz="1400" dirty="0"/>
          </a:p>
        </p:txBody>
      </p:sp>
      <p:sp>
        <p:nvSpPr>
          <p:cNvPr id="8" name="cartao-61"/>
          <p:cNvSpPr/>
          <p:nvPr/>
        </p:nvSpPr>
        <p:spPr>
          <a:xfrm>
            <a:off x="548640" y="237744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9" name="marcador-62"/>
          <p:cNvSpPr/>
          <p:nvPr/>
        </p:nvSpPr>
        <p:spPr>
          <a:xfrm>
            <a:off x="822960" y="2633472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texto-63"/>
          <p:cNvSpPr txBox="1"/>
          <p:nvPr/>
        </p:nvSpPr>
        <p:spPr>
          <a:xfrm>
            <a:off x="1417320" y="2377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Controller</a:t>
            </a:r>
            <a:endParaRPr lang="en-US" sz="2000" dirty="0"/>
          </a:p>
        </p:txBody>
      </p:sp>
      <p:sp>
        <p:nvSpPr>
          <p:cNvPr id="11" name="texto-64"/>
          <p:cNvSpPr txBox="1"/>
          <p:nvPr/>
        </p:nvSpPr>
        <p:spPr>
          <a:xfrm>
            <a:off x="3566160" y="237744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FastAPI · Pydantic · JWT · bcrypt</a:t>
            </a:r>
            <a:endParaRPr lang="en-US" sz="1600" dirty="0"/>
          </a:p>
        </p:txBody>
      </p:sp>
      <p:sp>
        <p:nvSpPr>
          <p:cNvPr id="12" name="texto-65"/>
          <p:cNvSpPr txBox="1"/>
          <p:nvPr/>
        </p:nvSpPr>
        <p:spPr>
          <a:xfrm>
            <a:off x="7498080" y="237744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Recebe o pedido, valida os dados e protege o acesso.</a:t>
            </a:r>
            <a:endParaRPr lang="en-US" sz="1400" dirty="0"/>
          </a:p>
        </p:txBody>
      </p:sp>
      <p:sp>
        <p:nvSpPr>
          <p:cNvPr id="13" name="cartao-66"/>
          <p:cNvSpPr/>
          <p:nvPr/>
        </p:nvSpPr>
        <p:spPr>
          <a:xfrm>
            <a:off x="548640" y="338328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dor-67"/>
          <p:cNvSpPr/>
          <p:nvPr/>
        </p:nvSpPr>
        <p:spPr>
          <a:xfrm>
            <a:off x="822960" y="3639312"/>
            <a:ext cx="365760" cy="36576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5" name="texto-68"/>
          <p:cNvSpPr txBox="1"/>
          <p:nvPr/>
        </p:nvSpPr>
        <p:spPr>
          <a:xfrm>
            <a:off x="1417320" y="33832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Model</a:t>
            </a:r>
            <a:endParaRPr lang="en-US" sz="2000" dirty="0"/>
          </a:p>
        </p:txBody>
      </p:sp>
      <p:sp>
        <p:nvSpPr>
          <p:cNvPr id="16" name="texto-69"/>
          <p:cNvSpPr txBox="1"/>
          <p:nvPr/>
        </p:nvSpPr>
        <p:spPr>
          <a:xfrm>
            <a:off x="3566160" y="338328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Python (serviços e entidades)</a:t>
            </a:r>
            <a:endParaRPr lang="en-US" sz="1600" dirty="0"/>
          </a:p>
        </p:txBody>
      </p:sp>
      <p:sp>
        <p:nvSpPr>
          <p:cNvPr id="17" name="texto-70"/>
          <p:cNvSpPr txBox="1"/>
          <p:nvPr/>
        </p:nvSpPr>
        <p:spPr>
          <a:xfrm>
            <a:off x="7498080" y="338328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As regras do negócio: saldo, envio, resgate e cupom.</a:t>
            </a:r>
            <a:endParaRPr lang="en-US" sz="1400" dirty="0"/>
          </a:p>
        </p:txBody>
      </p:sp>
      <p:sp>
        <p:nvSpPr>
          <p:cNvPr id="18" name="cartao-71"/>
          <p:cNvSpPr/>
          <p:nvPr/>
        </p:nvSpPr>
        <p:spPr>
          <a:xfrm>
            <a:off x="548640" y="438912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9" name="marcador-72"/>
          <p:cNvSpPr/>
          <p:nvPr/>
        </p:nvSpPr>
        <p:spPr>
          <a:xfrm>
            <a:off x="822960" y="4645152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o-73"/>
          <p:cNvSpPr txBox="1"/>
          <p:nvPr/>
        </p:nvSpPr>
        <p:spPr>
          <a:xfrm>
            <a:off x="1417320" y="438912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Persistência</a:t>
            </a:r>
            <a:endParaRPr lang="en-US" sz="2000" dirty="0"/>
          </a:p>
        </p:txBody>
      </p:sp>
      <p:sp>
        <p:nvSpPr>
          <p:cNvPr id="21" name="texto-74"/>
          <p:cNvSpPr txBox="1"/>
          <p:nvPr/>
        </p:nvSpPr>
        <p:spPr>
          <a:xfrm>
            <a:off x="3566160" y="438912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SQLAlchemy · PostgreSQL · Alembic</a:t>
            </a:r>
            <a:endParaRPr lang="en-US" sz="1600" dirty="0"/>
          </a:p>
        </p:txBody>
      </p:sp>
      <p:sp>
        <p:nvSpPr>
          <p:cNvPr id="22" name="texto-75"/>
          <p:cNvSpPr txBox="1"/>
          <p:nvPr/>
        </p:nvSpPr>
        <p:spPr>
          <a:xfrm>
            <a:off x="7498080" y="438912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Repositórios gravam e leem do banco; o esquema é versionado.</a:t>
            </a:r>
            <a:endParaRPr lang="en-US" sz="1400" dirty="0"/>
          </a:p>
        </p:txBody>
      </p:sp>
      <p:sp>
        <p:nvSpPr>
          <p:cNvPr id="23" name="cartao-76"/>
          <p:cNvSpPr/>
          <p:nvPr/>
        </p:nvSpPr>
        <p:spPr>
          <a:xfrm>
            <a:off x="548640" y="5394960"/>
            <a:ext cx="11091672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4" name="marcador-77"/>
          <p:cNvSpPr/>
          <p:nvPr/>
        </p:nvSpPr>
        <p:spPr>
          <a:xfrm>
            <a:off x="822960" y="5650992"/>
            <a:ext cx="365760" cy="365760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25" name="texto-78"/>
          <p:cNvSpPr txBox="1"/>
          <p:nvPr/>
        </p:nvSpPr>
        <p:spPr>
          <a:xfrm>
            <a:off x="1417320" y="53949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Ambiente</a:t>
            </a:r>
            <a:endParaRPr lang="en-US" sz="2000" dirty="0"/>
          </a:p>
        </p:txBody>
      </p:sp>
      <p:sp>
        <p:nvSpPr>
          <p:cNvPr id="26" name="texto-79"/>
          <p:cNvSpPr txBox="1"/>
          <p:nvPr/>
        </p:nvSpPr>
        <p:spPr>
          <a:xfrm>
            <a:off x="3566160" y="5394960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Docker Compose</a:t>
            </a:r>
            <a:endParaRPr lang="en-US" sz="1600" dirty="0"/>
          </a:p>
        </p:txBody>
      </p:sp>
      <p:sp>
        <p:nvSpPr>
          <p:cNvPr id="27" name="texto-80"/>
          <p:cNvSpPr txBox="1"/>
          <p:nvPr/>
        </p:nvSpPr>
        <p:spPr>
          <a:xfrm>
            <a:off x="7498080" y="5394960"/>
            <a:ext cx="3977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Sobe banco, API e tela juntos, com um comando.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React e TypeScript: a tela como componente</a:t>
            </a:r>
            <a:endParaRPr lang="en-US" sz="3200" dirty="0"/>
          </a:p>
        </p:txBody>
      </p:sp>
      <p:sp>
        <p:nvSpPr>
          <p:cNvPr id="3" name="etiqueta-81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" name="texto-82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View</a:t>
            </a:r>
            <a:endParaRPr lang="en-US" sz="1300" dirty="0"/>
          </a:p>
        </p:txBody>
      </p:sp>
      <p:sp>
        <p:nvSpPr>
          <p:cNvPr id="5" name="texto-83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84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React monta a interface com componentes: funções que devolvem um pedaço de tela. O TypeScript acrescenta tipos ao JavaScript e avisa dos erros antes de rodar.</a:t>
            </a:r>
            <a:endParaRPr lang="en-US" sz="1500" dirty="0"/>
          </a:p>
        </p:txBody>
      </p:sp>
      <p:sp>
        <p:nvSpPr>
          <p:cNvPr id="7" name="texto-85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86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Criar o projeto: npm create vite@latest oficina -- --template react-ts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cd oficina &amp;&amp; npm install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Escrever o componente em src/Livros.tsx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Rodar: npm run dev e abrir localhost:5173</a:t>
            </a:r>
            <a:endParaRPr lang="en-US" sz="1500" dirty="0"/>
          </a:p>
        </p:txBody>
      </p:sp>
      <p:sp>
        <p:nvSpPr>
          <p:cNvPr id="9" name="painel-codigo-87"/>
          <p:cNvSpPr/>
          <p:nvPr/>
        </p:nvSpPr>
        <p:spPr>
          <a:xfrm>
            <a:off x="5440680" y="1325880"/>
            <a:ext cx="6217920" cy="4293108"/>
          </a:xfrm>
          <a:prstGeom prst="roundRect">
            <a:avLst>
              <a:gd name="adj" fmla="val 2130"/>
            </a:avLst>
          </a:prstGeom>
          <a:solidFill>
            <a:schemeClr val="tx1"/>
          </a:solidFill>
          <a:ln/>
        </p:spPr>
      </p:sp>
      <p:sp>
        <p:nvSpPr>
          <p:cNvPr id="10" name="texto-88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src/Livros.tsx</a:t>
            </a:r>
            <a:endParaRPr lang="en-US" sz="1200" dirty="0"/>
          </a:p>
        </p:txBody>
      </p:sp>
      <p:sp>
        <p:nvSpPr>
          <p:cNvPr id="11" name="texto-89"/>
          <p:cNvSpPr txBox="1"/>
          <p:nvPr/>
        </p:nvSpPr>
        <p:spPr>
          <a:xfrm>
            <a:off x="5669280" y="1783080"/>
            <a:ext cx="5760720" cy="3744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type Livro = { id: number; titulo: string };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function Livros()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[livros, setLivros] = useState&lt;Livro[]&gt;([]);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useEffect(() =&gt;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fetch("/api/livros")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.then((r) =&gt; r.json())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.then(setLivros);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 []);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&lt;ul&gt;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{livros.map((l) =&gt; &lt;li key={l.id}&gt;{l.titulo}&lt;/li&gt;)}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&lt;/ul&gt;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Tailwind CSS: estilo por classes</a:t>
            </a:r>
            <a:endParaRPr lang="en-US" sz="3200" dirty="0"/>
          </a:p>
        </p:txBody>
      </p:sp>
      <p:sp>
        <p:nvSpPr>
          <p:cNvPr id="3" name="etiqueta-90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</p:sp>
      <p:sp>
        <p:nvSpPr>
          <p:cNvPr id="4" name="texto-91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View</a:t>
            </a:r>
            <a:endParaRPr lang="en-US" sz="1300" dirty="0"/>
          </a:p>
        </p:txBody>
      </p:sp>
      <p:sp>
        <p:nvSpPr>
          <p:cNvPr id="5" name="texto-92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93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Tailwind é um CSS por utilitários: cada classe faz uma coisa pequena e você combina várias direto no elemento, sem escrever um arquivo de CSS à parte.</a:t>
            </a:r>
            <a:endParaRPr lang="en-US" sz="1500" dirty="0"/>
          </a:p>
        </p:txBody>
      </p:sp>
      <p:sp>
        <p:nvSpPr>
          <p:cNvPr id="7" name="texto-94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95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npm install tailwindcss @tailwindcss/vite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Registrar o plugin no vite.config.ts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Importar no CSS principal: @import "tailwindcss";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Combinar classes no className: px-4 (espaço lateral), bg-indigo-600 (fundo), hover: (ao passar o mouse)</a:t>
            </a:r>
            <a:endParaRPr lang="en-US" sz="1500" dirty="0"/>
          </a:p>
        </p:txBody>
      </p:sp>
      <p:sp>
        <p:nvSpPr>
          <p:cNvPr id="9" name="painel-codigo-96"/>
          <p:cNvSpPr/>
          <p:nvPr/>
        </p:nvSpPr>
        <p:spPr>
          <a:xfrm>
            <a:off x="5440680" y="1325880"/>
            <a:ext cx="6217920" cy="1714500"/>
          </a:xfrm>
          <a:prstGeom prst="roundRect">
            <a:avLst>
              <a:gd name="adj" fmla="val 5333"/>
            </a:avLst>
          </a:prstGeom>
          <a:solidFill>
            <a:schemeClr val="tx1"/>
          </a:solidFill>
          <a:ln/>
        </p:spPr>
      </p:sp>
      <p:sp>
        <p:nvSpPr>
          <p:cNvPr id="10" name="texto-97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vite.config.ts</a:t>
            </a:r>
            <a:endParaRPr lang="en-US" sz="1200" dirty="0"/>
          </a:p>
        </p:txBody>
      </p:sp>
      <p:sp>
        <p:nvSpPr>
          <p:cNvPr id="11" name="texto-98"/>
          <p:cNvSpPr txBox="1"/>
          <p:nvPr/>
        </p:nvSpPr>
        <p:spPr>
          <a:xfrm>
            <a:off x="5669280" y="1783080"/>
            <a:ext cx="5760720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tailwindcss from "@tailwindcss/vite";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default defineConfig({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plugins: [react(), tailwindcss()],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300" dirty="0"/>
          </a:p>
        </p:txBody>
      </p:sp>
      <p:sp>
        <p:nvSpPr>
          <p:cNvPr id="12" name="painel-codigo-99"/>
          <p:cNvSpPr/>
          <p:nvPr/>
        </p:nvSpPr>
        <p:spPr>
          <a:xfrm>
            <a:off x="5440680" y="3177540"/>
            <a:ext cx="6217920" cy="854964"/>
          </a:xfrm>
          <a:prstGeom prst="roundRect">
            <a:avLst>
              <a:gd name="adj" fmla="val 10695"/>
            </a:avLst>
          </a:prstGeom>
          <a:solidFill>
            <a:schemeClr val="tx1"/>
          </a:solidFill>
          <a:ln/>
        </p:spPr>
      </p:sp>
      <p:sp>
        <p:nvSpPr>
          <p:cNvPr id="13" name="texto-100"/>
          <p:cNvSpPr txBox="1"/>
          <p:nvPr/>
        </p:nvSpPr>
        <p:spPr>
          <a:xfrm>
            <a:off x="5669280" y="328726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src/index.css</a:t>
            </a:r>
            <a:endParaRPr lang="en-US" sz="1200" dirty="0"/>
          </a:p>
        </p:txBody>
      </p:sp>
      <p:sp>
        <p:nvSpPr>
          <p:cNvPr id="14" name="texto-101"/>
          <p:cNvSpPr txBox="1"/>
          <p:nvPr/>
        </p:nvSpPr>
        <p:spPr>
          <a:xfrm>
            <a:off x="5669280" y="3634740"/>
            <a:ext cx="5760720" cy="306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@import "tailwindcss";</a:t>
            </a:r>
            <a:endParaRPr lang="en-US" sz="1300" dirty="0"/>
          </a:p>
        </p:txBody>
      </p:sp>
      <p:sp>
        <p:nvSpPr>
          <p:cNvPr id="15" name="painel-codigo-102"/>
          <p:cNvSpPr/>
          <p:nvPr/>
        </p:nvSpPr>
        <p:spPr>
          <a:xfrm>
            <a:off x="5440680" y="4169664"/>
            <a:ext cx="6217920" cy="1929384"/>
          </a:xfrm>
          <a:prstGeom prst="roundRect">
            <a:avLst>
              <a:gd name="adj" fmla="val 4739"/>
            </a:avLst>
          </a:prstGeom>
          <a:solidFill>
            <a:schemeClr val="tx1"/>
          </a:solidFill>
          <a:ln/>
        </p:spPr>
      </p:sp>
      <p:sp>
        <p:nvSpPr>
          <p:cNvPr id="16" name="texto-103"/>
          <p:cNvSpPr txBox="1"/>
          <p:nvPr/>
        </p:nvSpPr>
        <p:spPr>
          <a:xfrm>
            <a:off x="5669280" y="4279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src/Botao.tsx</a:t>
            </a:r>
            <a:endParaRPr lang="en-US" sz="1200" dirty="0"/>
          </a:p>
        </p:txBody>
      </p:sp>
      <p:sp>
        <p:nvSpPr>
          <p:cNvPr id="17" name="texto-104"/>
          <p:cNvSpPr txBox="1"/>
          <p:nvPr/>
        </p:nvSpPr>
        <p:spPr>
          <a:xfrm>
            <a:off x="5669280" y="4626864"/>
            <a:ext cx="576072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&lt;button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className="rounded-lg bg-indigo-600 px-4 py-2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text-white hover:bg-indigo-700"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Salvar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&lt;/button&gt;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FastAPI e Pydantic: uma API validada</a:t>
            </a:r>
            <a:endParaRPr lang="en-US" sz="3200" dirty="0"/>
          </a:p>
        </p:txBody>
      </p:sp>
      <p:sp>
        <p:nvSpPr>
          <p:cNvPr id="3" name="etiqueta-105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o-106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Controller</a:t>
            </a:r>
            <a:endParaRPr lang="en-US" sz="1300" dirty="0"/>
          </a:p>
        </p:txBody>
      </p:sp>
      <p:sp>
        <p:nvSpPr>
          <p:cNvPr id="5" name="texto-107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08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FastAPI transforma uma função com decorador em uma rota HTTP. O Pydantic descreve o formato dos dados e recusa o que não bate, com mensagem clara.</a:t>
            </a:r>
            <a:endParaRPr lang="en-US" sz="1500" dirty="0"/>
          </a:p>
        </p:txBody>
      </p:sp>
      <p:sp>
        <p:nvSpPr>
          <p:cNvPr id="7" name="texto-109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10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pip install fastapi uvicorn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Descrever os dados com Pydantic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Criar a rota com o decorador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Rodar: uvicorn main:app --reload e abrir localhost:8000/docs</a:t>
            </a:r>
            <a:endParaRPr lang="en-US" sz="1500" dirty="0"/>
          </a:p>
        </p:txBody>
      </p:sp>
      <p:sp>
        <p:nvSpPr>
          <p:cNvPr id="9" name="painel-codigo-111"/>
          <p:cNvSpPr/>
          <p:nvPr/>
        </p:nvSpPr>
        <p:spPr>
          <a:xfrm>
            <a:off x="5440680" y="1325880"/>
            <a:ext cx="6217920" cy="3218688"/>
          </a:xfrm>
          <a:prstGeom prst="roundRect">
            <a:avLst>
              <a:gd name="adj" fmla="val 2841"/>
            </a:avLst>
          </a:prstGeom>
          <a:solidFill>
            <a:schemeClr val="tx1"/>
          </a:solidFill>
          <a:ln/>
        </p:spPr>
      </p:sp>
      <p:sp>
        <p:nvSpPr>
          <p:cNvPr id="10" name="texto-112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main.py</a:t>
            </a:r>
            <a:endParaRPr lang="en-US" sz="1200" dirty="0"/>
          </a:p>
        </p:txBody>
      </p:sp>
      <p:sp>
        <p:nvSpPr>
          <p:cNvPr id="11" name="texto-113"/>
          <p:cNvSpPr txBox="1"/>
          <p:nvPr/>
        </p:nvSpPr>
        <p:spPr>
          <a:xfrm>
            <a:off x="5669280" y="1783080"/>
            <a:ext cx="57607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fastapi import FastAPI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pydantic import BaseModel, Field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= FastAPI()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LivroEntrada(BaseModel):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titulo: str = Field(min_length=1, max_length=100)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paginas: int = Field(gt=0)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@app.post("/livros", status_code=201)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criar(dados: LivroEntrada):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{"titulo": dados.titulo}</a:t>
            </a:r>
            <a:endParaRPr lang="en-US" sz="1300" dirty="0"/>
          </a:p>
        </p:txBody>
      </p:sp>
      <p:sp>
        <p:nvSpPr>
          <p:cNvPr id="12" name="painel-codigo-114"/>
          <p:cNvSpPr/>
          <p:nvPr/>
        </p:nvSpPr>
        <p:spPr>
          <a:xfrm>
            <a:off x="5440680" y="4681728"/>
            <a:ext cx="6217920" cy="1069848"/>
          </a:xfrm>
          <a:prstGeom prst="roundRect">
            <a:avLst>
              <a:gd name="adj" fmla="val 8547"/>
            </a:avLst>
          </a:prstGeom>
          <a:solidFill>
            <a:schemeClr val="tx1"/>
          </a:solidFill>
          <a:ln/>
        </p:spPr>
      </p:sp>
      <p:sp>
        <p:nvSpPr>
          <p:cNvPr id="13" name="texto-115"/>
          <p:cNvSpPr txBox="1"/>
          <p:nvPr/>
        </p:nvSpPr>
        <p:spPr>
          <a:xfrm>
            <a:off x="5669280" y="479145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resposta 422 (paginas = 0)</a:t>
            </a:r>
            <a:endParaRPr lang="en-US" sz="1200" dirty="0"/>
          </a:p>
        </p:txBody>
      </p:sp>
      <p:sp>
        <p:nvSpPr>
          <p:cNvPr id="14" name="texto-116"/>
          <p:cNvSpPr txBox="1"/>
          <p:nvPr/>
        </p:nvSpPr>
        <p:spPr>
          <a:xfrm>
            <a:off x="5669280" y="5138928"/>
            <a:ext cx="57607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{"detail": [{"loc": ["body", "paginas"],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"msg": "Input should be greater than 0"}]}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JWT e bcrypt: login seguro</a:t>
            </a:r>
            <a:endParaRPr lang="en-US" sz="3200" dirty="0"/>
          </a:p>
        </p:txBody>
      </p:sp>
      <p:sp>
        <p:nvSpPr>
          <p:cNvPr id="3" name="etiqueta-117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exto-118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Controller</a:t>
            </a:r>
            <a:endParaRPr lang="en-US" sz="1300" dirty="0"/>
          </a:p>
        </p:txBody>
      </p:sp>
      <p:sp>
        <p:nvSpPr>
          <p:cNvPr id="5" name="texto-119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20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bcrypt transforma a senha em um hash com salt, e só o hash é guardado. O JWT é um token assinado que o servidor entrega no login e confere em cada pedido.</a:t>
            </a:r>
            <a:endParaRPr lang="en-US" sz="1500" dirty="0"/>
          </a:p>
        </p:txBody>
      </p:sp>
      <p:sp>
        <p:nvSpPr>
          <p:cNvPr id="7" name="texto-121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22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pip install bcrypt pyjwt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No cadastro, guardar apenas o hash da senha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No login, conferir a senha e emitir o token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Nas rotas protegidas, ler o cabeçalho Authorization: Bearer &lt;token&gt;</a:t>
            </a:r>
            <a:endParaRPr lang="en-US" sz="1500" dirty="0"/>
          </a:p>
        </p:txBody>
      </p:sp>
      <p:sp>
        <p:nvSpPr>
          <p:cNvPr id="9" name="painel-codigo-123"/>
          <p:cNvSpPr/>
          <p:nvPr/>
        </p:nvSpPr>
        <p:spPr>
          <a:xfrm>
            <a:off x="5440680" y="1325880"/>
            <a:ext cx="6217920" cy="3648456"/>
          </a:xfrm>
          <a:prstGeom prst="roundRect">
            <a:avLst>
              <a:gd name="adj" fmla="val 2506"/>
            </a:avLst>
          </a:prstGeom>
          <a:solidFill>
            <a:schemeClr val="tx1"/>
          </a:solidFill>
          <a:ln/>
        </p:spPr>
      </p:sp>
      <p:sp>
        <p:nvSpPr>
          <p:cNvPr id="10" name="texto-124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seguranca.py</a:t>
            </a:r>
            <a:endParaRPr lang="en-US" sz="1200" dirty="0"/>
          </a:p>
        </p:txBody>
      </p:sp>
      <p:sp>
        <p:nvSpPr>
          <p:cNvPr id="11" name="texto-125"/>
          <p:cNvSpPr txBox="1"/>
          <p:nvPr/>
        </p:nvSpPr>
        <p:spPr>
          <a:xfrm>
            <a:off x="5669280" y="1783080"/>
            <a:ext cx="576072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bcrypt, jwt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datetime import datetime, timedelta, timezone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cadastro: guarda só o hash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hash_ = bcrypt.hashpw(b"senha123", bcrypt.gensalt())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login: confere a senha e gera o token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bcrypt.checkpw(b"senha123", hash_):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 = datetime.now(timezone.utc) + timedelta(hours=2)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token = jwt.encode({"sub": "42", "exp": exp},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SEGREDO, algorithm="HS256")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rota protegida: valida e descobre quem pediu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 = jwt.decode(token, SEGREDO, algorithms=["HS256"])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SQLAlchemy: classes viram tabelas</a:t>
            </a:r>
            <a:endParaRPr lang="en-US" sz="3200" dirty="0"/>
          </a:p>
        </p:txBody>
      </p:sp>
      <p:sp>
        <p:nvSpPr>
          <p:cNvPr id="3" name="etiqueta-126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o-127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Persistência</a:t>
            </a:r>
            <a:endParaRPr lang="en-US" sz="1300" dirty="0"/>
          </a:p>
        </p:txBody>
      </p:sp>
      <p:sp>
        <p:nvSpPr>
          <p:cNvPr id="5" name="texto-128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29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SQLAlchemy é um ORM: cada classe vira uma tabela e cada objeto, uma linha. O repositório guarda as consultas, e a regra de negócio nem sabe que existe um banco.</a:t>
            </a:r>
            <a:endParaRPr lang="en-US" sz="1500" dirty="0"/>
          </a:p>
        </p:txBody>
      </p:sp>
      <p:sp>
        <p:nvSpPr>
          <p:cNvPr id="7" name="texto-130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31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Instalar: pip install sqlalchemy "psycopg[binary]"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Declarar a classe que representa a tabela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Criar a engine apontando para o banco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Escrever o repositório e usá-lo no serviço</a:t>
            </a:r>
            <a:endParaRPr lang="en-US" sz="1500" dirty="0"/>
          </a:p>
        </p:txBody>
      </p:sp>
      <p:sp>
        <p:nvSpPr>
          <p:cNvPr id="9" name="painel-codigo-132"/>
          <p:cNvSpPr/>
          <p:nvPr/>
        </p:nvSpPr>
        <p:spPr>
          <a:xfrm>
            <a:off x="5440680" y="1325880"/>
            <a:ext cx="6217920" cy="1929384"/>
          </a:xfrm>
          <a:prstGeom prst="roundRect">
            <a:avLst>
              <a:gd name="adj" fmla="val 4739"/>
            </a:avLst>
          </a:prstGeom>
          <a:solidFill>
            <a:schemeClr val="tx1"/>
          </a:solidFill>
          <a:ln/>
        </p:spPr>
      </p:sp>
      <p:sp>
        <p:nvSpPr>
          <p:cNvPr id="10" name="texto-133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models.py</a:t>
            </a:r>
            <a:endParaRPr lang="en-US" sz="1200" dirty="0"/>
          </a:p>
        </p:txBody>
      </p:sp>
      <p:sp>
        <p:nvSpPr>
          <p:cNvPr id="11" name="texto-134"/>
          <p:cNvSpPr txBox="1"/>
          <p:nvPr/>
        </p:nvSpPr>
        <p:spPr>
          <a:xfrm>
            <a:off x="5669280" y="1783080"/>
            <a:ext cx="576072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Livro(Base):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__tablename__ = "livro"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id: Mapped[int] = mapped_column(primary_key=True)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titulo: Mapped[str] = mapped_column(String(100))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 = create_engine("postgresql+psycopg://app:senha@db/oficina")</a:t>
            </a:r>
            <a:endParaRPr lang="en-US" sz="1300" dirty="0"/>
          </a:p>
        </p:txBody>
      </p:sp>
      <p:sp>
        <p:nvSpPr>
          <p:cNvPr id="12" name="painel-codigo-135"/>
          <p:cNvSpPr/>
          <p:nvPr/>
        </p:nvSpPr>
        <p:spPr>
          <a:xfrm>
            <a:off x="5440680" y="3392424"/>
            <a:ext cx="6217920" cy="2574036"/>
          </a:xfrm>
          <a:prstGeom prst="roundRect">
            <a:avLst>
              <a:gd name="adj" fmla="val 3552"/>
            </a:avLst>
          </a:prstGeom>
          <a:solidFill>
            <a:schemeClr val="tx1"/>
          </a:solidFill>
          <a:ln/>
        </p:spPr>
      </p:sp>
      <p:sp>
        <p:nvSpPr>
          <p:cNvPr id="13" name="texto-136"/>
          <p:cNvSpPr txBox="1"/>
          <p:nvPr/>
        </p:nvSpPr>
        <p:spPr>
          <a:xfrm>
            <a:off x="5669280" y="35021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livro_repositorio.py</a:t>
            </a:r>
            <a:endParaRPr lang="en-US" sz="1200" dirty="0"/>
          </a:p>
        </p:txBody>
      </p:sp>
      <p:sp>
        <p:nvSpPr>
          <p:cNvPr id="14" name="texto-137"/>
          <p:cNvSpPr txBox="1"/>
          <p:nvPr/>
        </p:nvSpPr>
        <p:spPr>
          <a:xfrm>
            <a:off x="5669280" y="3849624"/>
            <a:ext cx="5760720" cy="202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LivroRepositorio: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__init__(self, sessao):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self.sessao = sessao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salvar(self, titulo):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livro = Livro(titulo=titulo)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self.sessao.add(livro)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self.sessao.commit()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livro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PostgreSQL e Alembic: banco e migrações</a:t>
            </a:r>
            <a:endParaRPr lang="en-US" sz="3200" dirty="0"/>
          </a:p>
        </p:txBody>
      </p:sp>
      <p:sp>
        <p:nvSpPr>
          <p:cNvPr id="3" name="etiqueta-138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4" name="texto-139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Camada Persistência</a:t>
            </a:r>
            <a:endParaRPr lang="en-US" sz="1300" dirty="0"/>
          </a:p>
        </p:txBody>
      </p:sp>
      <p:sp>
        <p:nvSpPr>
          <p:cNvPr id="5" name="texto-140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41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PostgreSQL guarda os dados em tabelas, com chaves e restrições. O Alembic versiona o esquema: cada mudança vira um arquivo que pode ser aplicado ou desfeito.</a:t>
            </a:r>
            <a:endParaRPr lang="en-US" sz="1500" dirty="0"/>
          </a:p>
        </p:txBody>
      </p:sp>
      <p:sp>
        <p:nvSpPr>
          <p:cNvPr id="7" name="texto-142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43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Instalar e iniciar: pip install alembic e alembic init migracoes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Apontar o migracoes/env.py para os modelos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Gerar: alembic revision --autogenerate -m "cria livro"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Aplicar: alembic upgrade head</a:t>
            </a:r>
            <a:endParaRPr lang="en-US" sz="1500" dirty="0"/>
          </a:p>
        </p:txBody>
      </p:sp>
      <p:sp>
        <p:nvSpPr>
          <p:cNvPr id="9" name="painel-codigo-144"/>
          <p:cNvSpPr/>
          <p:nvPr/>
        </p:nvSpPr>
        <p:spPr>
          <a:xfrm>
            <a:off x="5440680" y="1325880"/>
            <a:ext cx="6217920" cy="2574036"/>
          </a:xfrm>
          <a:prstGeom prst="roundRect">
            <a:avLst>
              <a:gd name="adj" fmla="val 3552"/>
            </a:avLst>
          </a:prstGeom>
          <a:solidFill>
            <a:schemeClr val="tx1"/>
          </a:solidFill>
          <a:ln/>
        </p:spPr>
      </p:sp>
      <p:sp>
        <p:nvSpPr>
          <p:cNvPr id="10" name="texto-145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migracoes/versions/001_cria_livro.py</a:t>
            </a:r>
            <a:endParaRPr lang="en-US" sz="1200" dirty="0"/>
          </a:p>
        </p:txBody>
      </p:sp>
      <p:sp>
        <p:nvSpPr>
          <p:cNvPr id="11" name="texto-146"/>
          <p:cNvSpPr txBox="1"/>
          <p:nvPr/>
        </p:nvSpPr>
        <p:spPr>
          <a:xfrm>
            <a:off x="5669280" y="1783080"/>
            <a:ext cx="5760720" cy="20253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upgrade():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op.create_table(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"livro",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sa.Column("id", sa.Integer, primary_key=True),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sa.Column("titulo", sa.String(100)),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downgrade():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op.drop_table("livro")</a:t>
            </a:r>
            <a:endParaRPr lang="en-US" sz="1300" dirty="0"/>
          </a:p>
        </p:txBody>
      </p:sp>
      <p:sp>
        <p:nvSpPr>
          <p:cNvPr id="12" name="painel-codigo-147"/>
          <p:cNvSpPr/>
          <p:nvPr/>
        </p:nvSpPr>
        <p:spPr>
          <a:xfrm>
            <a:off x="5440680" y="4037076"/>
            <a:ext cx="6217920" cy="1499616"/>
          </a:xfrm>
          <a:prstGeom prst="roundRect">
            <a:avLst>
              <a:gd name="adj" fmla="val 6098"/>
            </a:avLst>
          </a:prstGeom>
          <a:solidFill>
            <a:schemeClr val="tx1"/>
          </a:solidFill>
          <a:ln/>
        </p:spPr>
      </p:sp>
      <p:sp>
        <p:nvSpPr>
          <p:cNvPr id="13" name="texto-148"/>
          <p:cNvSpPr txBox="1"/>
          <p:nvPr/>
        </p:nvSpPr>
        <p:spPr>
          <a:xfrm>
            <a:off x="5669280" y="41468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psql</a:t>
            </a:r>
            <a:endParaRPr lang="en-US" sz="1200" dirty="0"/>
          </a:p>
        </p:txBody>
      </p:sp>
      <p:sp>
        <p:nvSpPr>
          <p:cNvPr id="14" name="texto-149"/>
          <p:cNvSpPr txBox="1"/>
          <p:nvPr/>
        </p:nvSpPr>
        <p:spPr>
          <a:xfrm>
            <a:off x="5669280" y="4494276"/>
            <a:ext cx="5760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oficina=# SELECT * FROM livro;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id |    titulo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----+--------------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 | Dom Casmurro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Docker Compose: tudo com um comando</a:t>
            </a:r>
            <a:endParaRPr lang="en-US" sz="3200" dirty="0"/>
          </a:p>
        </p:txBody>
      </p:sp>
      <p:sp>
        <p:nvSpPr>
          <p:cNvPr id="3" name="etiqueta-150"/>
          <p:cNvSpPr/>
          <p:nvPr/>
        </p:nvSpPr>
        <p:spPr>
          <a:xfrm>
            <a:off x="548640" y="1325880"/>
            <a:ext cx="2286000" cy="347472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/>
        </p:spPr>
      </p:sp>
      <p:sp>
        <p:nvSpPr>
          <p:cNvPr id="4" name="texto-151"/>
          <p:cNvSpPr txBox="1"/>
          <p:nvPr/>
        </p:nvSpPr>
        <p:spPr>
          <a:xfrm>
            <a:off x="548640" y="132588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Ambiente</a:t>
            </a:r>
            <a:endParaRPr lang="en-US" sz="1300" dirty="0"/>
          </a:p>
        </p:txBody>
      </p:sp>
      <p:sp>
        <p:nvSpPr>
          <p:cNvPr id="5" name="texto-152"/>
          <p:cNvSpPr txBox="1"/>
          <p:nvPr/>
        </p:nvSpPr>
        <p:spPr>
          <a:xfrm>
            <a:off x="548640" y="1874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O que é</a:t>
            </a:r>
            <a:endParaRPr lang="en-US" sz="1800" dirty="0"/>
          </a:p>
        </p:txBody>
      </p:sp>
      <p:sp>
        <p:nvSpPr>
          <p:cNvPr id="6" name="texto-153"/>
          <p:cNvSpPr txBox="1"/>
          <p:nvPr/>
        </p:nvSpPr>
        <p:spPr>
          <a:xfrm>
            <a:off x="548640" y="22402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Docker empacota cada serviço em um contêiner, descrito por um Dockerfile. O Compose descreve e liga vários contêineres em um único arquivo.</a:t>
            </a:r>
            <a:endParaRPr lang="en-US" sz="1500" dirty="0"/>
          </a:p>
        </p:txBody>
      </p:sp>
      <p:sp>
        <p:nvSpPr>
          <p:cNvPr id="7" name="texto-154"/>
          <p:cNvSpPr txBox="1"/>
          <p:nvPr/>
        </p:nvSpPr>
        <p:spPr>
          <a:xfrm>
            <a:off x="548640" y="3429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6"/>
                </a:solidFill>
              </a:rPr>
              <a:t>Como usar</a:t>
            </a:r>
            <a:endParaRPr lang="en-US" sz="1800" dirty="0"/>
          </a:p>
        </p:txBody>
      </p:sp>
      <p:sp>
        <p:nvSpPr>
          <p:cNvPr id="8" name="texto-155"/>
          <p:cNvSpPr txBox="1"/>
          <p:nvPr/>
        </p:nvSpPr>
        <p:spPr>
          <a:xfrm>
            <a:off x="548640" y="379476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Escrever o Dockerfile de cada serviço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Descrever os serviços no docker-compose.yml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Subir tudo: docker compose up -d --build e abrir localhost:5173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500" dirty="0">
                <a:solidFill>
                  <a:schemeClr val="tx1"/>
                </a:solidFill>
              </a:rPr>
              <a:t>Limpar tudo: docker compose down -v</a:t>
            </a:r>
            <a:endParaRPr lang="en-US" sz="1500" dirty="0"/>
          </a:p>
        </p:txBody>
      </p:sp>
      <p:sp>
        <p:nvSpPr>
          <p:cNvPr id="9" name="painel-codigo-156"/>
          <p:cNvSpPr/>
          <p:nvPr/>
        </p:nvSpPr>
        <p:spPr>
          <a:xfrm>
            <a:off x="5440680" y="1325880"/>
            <a:ext cx="6217920" cy="1499616"/>
          </a:xfrm>
          <a:prstGeom prst="roundRect">
            <a:avLst>
              <a:gd name="adj" fmla="val 6098"/>
            </a:avLst>
          </a:prstGeom>
          <a:solidFill>
            <a:schemeClr val="tx1"/>
          </a:solidFill>
          <a:ln/>
        </p:spPr>
      </p:sp>
      <p:sp>
        <p:nvSpPr>
          <p:cNvPr id="10" name="texto-157"/>
          <p:cNvSpPr txBox="1"/>
          <p:nvPr/>
        </p:nvSpPr>
        <p:spPr>
          <a:xfrm>
            <a:off x="5669280" y="143560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api/Dockerfile</a:t>
            </a:r>
            <a:endParaRPr lang="en-US" sz="1200" dirty="0"/>
          </a:p>
        </p:txBody>
      </p:sp>
      <p:sp>
        <p:nvSpPr>
          <p:cNvPr id="11" name="texto-158"/>
          <p:cNvSpPr txBox="1"/>
          <p:nvPr/>
        </p:nvSpPr>
        <p:spPr>
          <a:xfrm>
            <a:off x="5669280" y="1783080"/>
            <a:ext cx="576072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python:3.12-slim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 . /app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pip install -r /app/requirements.txt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CMD ["uvicorn", "main:app", "--host", "0.0.0.0"]</a:t>
            </a:r>
            <a:endParaRPr lang="en-US" sz="1300" dirty="0"/>
          </a:p>
        </p:txBody>
      </p:sp>
      <p:sp>
        <p:nvSpPr>
          <p:cNvPr id="12" name="painel-codigo-159"/>
          <p:cNvSpPr/>
          <p:nvPr/>
        </p:nvSpPr>
        <p:spPr>
          <a:xfrm>
            <a:off x="5440680" y="2962656"/>
            <a:ext cx="6217920" cy="3218688"/>
          </a:xfrm>
          <a:prstGeom prst="roundRect">
            <a:avLst>
              <a:gd name="adj" fmla="val 2841"/>
            </a:avLst>
          </a:prstGeom>
          <a:solidFill>
            <a:schemeClr val="tx1"/>
          </a:solidFill>
          <a:ln/>
        </p:spPr>
      </p:sp>
      <p:sp>
        <p:nvSpPr>
          <p:cNvPr id="13" name="texto-160"/>
          <p:cNvSpPr txBox="1"/>
          <p:nvPr/>
        </p:nvSpPr>
        <p:spPr>
          <a:xfrm>
            <a:off x="5669280" y="30723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docker-compose.yml</a:t>
            </a:r>
            <a:endParaRPr lang="en-US" sz="1200" dirty="0"/>
          </a:p>
        </p:txBody>
      </p:sp>
      <p:sp>
        <p:nvSpPr>
          <p:cNvPr id="14" name="texto-161"/>
          <p:cNvSpPr txBox="1"/>
          <p:nvPr/>
        </p:nvSpPr>
        <p:spPr>
          <a:xfrm>
            <a:off x="5669280" y="3419856"/>
            <a:ext cx="5760720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services: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image: postgres:16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environment: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POSTGRES_PASSWORD: senha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api: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./api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depends_on: [db]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 ["8000:8000"]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front: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build: ./front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ports: ["5173:80"]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2860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200" b="1" dirty="0">
                <a:solidFill>
                  <a:schemeClr val="bg1"/>
                </a:solidFill>
              </a:rPr>
              <a:t>Obrigado!</a:t>
            </a:r>
            <a:endParaRPr lang="en-US" sz="5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3657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Código, diagramas e instruções: github.com/lucaslmchaves/sistema-moeda-estudantil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eda Estudantil">
  <a:themeElements>
    <a:clrScheme name="Moeda Estudantil">
      <a:dk1>
        <a:srgbClr val="1E1B4B"/>
      </a:dk1>
      <a:lt1>
        <a:srgbClr val="FFFFFF"/>
      </a:lt1>
      <a:dk2>
        <a:srgbClr val="312E81"/>
      </a:dk2>
      <a:lt2>
        <a:srgbClr val="EEF2FF"/>
      </a:lt2>
      <a:accent1>
        <a:srgbClr val="4F46E5"/>
      </a:accent1>
      <a:accent2>
        <a:srgbClr val="F59E0B"/>
      </a:accent2>
      <a:accent3>
        <a:srgbClr val="059669"/>
      </a:accent3>
      <a:accent4>
        <a:srgbClr val="DC2626"/>
      </a:accent4>
      <a:accent5>
        <a:srgbClr val="0284C7"/>
      </a:accent5>
      <a:accent6>
        <a:srgbClr val="64748B"/>
      </a:accent6>
      <a:hlink>
        <a:srgbClr val="4F46E5"/>
      </a:hlink>
      <a:folHlink>
        <a:srgbClr val="6D28D9"/>
      </a:folHlink>
    </a:clrScheme>
    <a:fontScheme name="Moeda Estudantil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 de Moeda Estudantil - Apresentação final</dc:title>
  <dc:subject>Laboratório de Desenvolvimento de Software - Sprint 3</dc:subject>
  <dc:creator>Lucas Lima Magalhães Lafetá Chaves</dc:creator>
  <cp:lastModifiedBy>Lucas Lima Magalhães Lafetá Chaves</cp:lastModifiedBy>
  <cp:revision>1</cp:revision>
  <dcterms:created xsi:type="dcterms:W3CDTF">2026-10-30T21:42:31Z</dcterms:created>
  <dcterms:modified xsi:type="dcterms:W3CDTF">2026-10-30T21:42:31Z</dcterms:modified>
</cp:coreProperties>
</file>