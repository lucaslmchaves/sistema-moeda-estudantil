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 trabalho" id="{599d5791-adfe-ac9a-2f69-d8e718107a4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Tutorial das tecnologias" id="{cd24d311-024d-9314-acc1-0c55df1d024b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em duas partes: primeiro o trabalho (o que foi construído, a arquitetura e a demonstração) e depois o tutorial das tecnologias usadas.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central do sistema. O professor distribui moedas, o aluno troca por vantagens oferecidas pelas empresas. Todo mundo entra com login e senha.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requisitos do enunciado do laboratório foram implementados no protótipo e testados.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casos de uso da Sprint 1: um caso de uso para cada história de usuário, com o serviço de e-mail como sistema externo.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componentes: cada componente corresponde a uma pasta do repositório. As setas só descem: a camada de cima usa a de baixo por meio de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 domínio do diagrama de classes: herança, composição da conta e as transações.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dos serviços e da persistência. Os serviços só enxergam interfaces; as implementações ficam na camada de persistência.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 de acesso ao banco: padrão Repository sobre o ORM SQLAlchemy. Cada serviço recebe interfaces; a composição acontece em controller/dependencias.py.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Herança em tabelas ligadas pela chave: usuário, aluno, professor e empresa; transação, envio e resgate. Exclusão lógica para preservar o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cadastro do aluno e a tela de login. Os erros aparecem por campo e em português, vindos do front ou da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empresa entra, cadastra a vantagem com a foto do produto e vê a lista. Só ela enxerga e exclui as próprias vantagens.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professor escolhe o aluno, informa o valor e o motivo. O saldo é conferido, e o aluno recebe um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aluno vê o catálogo, confirma o resgate e recebe o código. O botão fica desabilitado quando o saldo não cobre o custo.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extrato mostra o recebimento e o resgate. O aluno altera os próprios dados e pode excluir o cadastro, o que apenas o inativa.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Textos reais gerados pelo sistema durante o teste no navegador. O mesmo código aparece no cupom do aluno e na conferência da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Principais cuidados de segurança e de integridade. A exclusão de cadastro é lógica, para manter o histórico de transações.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cobrem regras de negócio, API, repositórios, hooks do React e o uso real pelo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 sobre o que ficou simples no protótipo e o que viria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parte: um mini tutorial de cada tecnologia, com um exemplo real do código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 das tecnologias. A seguir, um slide de tutorial para cada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API só sobe depois que o banco está saudável; ao subir ela aplica as migrações e a carga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mais importantes também ficam no banco, como o saldo nunca negativo e o valor da transação positivo.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 negócio do saldo mora na própria entidade Conta; o serviço apenas a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só traduz HTTP para chamadas de serviço. Os erros viram respostas em português com o campo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token carrega o id e o perfil; o segredo vem do arquivo .env e não vai para 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não entrou vai para o login; quem entrou com outro perfil volta ao início.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variantes de botão ficam em um só lugar e todas as telas usam a mesma função.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regra importante tem um teste que usa a API de verdade, com um banco em memória e e-mail simulado.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abrindo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Sistema de Moeda Estudantil</a:t>
            </a: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Laboratório de Desenvolvimento de Software — Sprint 3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Apresentação do protótipo, da arquitetura e das tecnologias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 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Lucas Lima Magalhães Lafetá Chaves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Engenharia de Software — PUC Minas  |  Profa. Milena Menezes Adão</a:t>
            </a:r>
            <a:endParaRPr lang="en-US" sz="2000" dirty="0"/>
          </a:p>
        </p:txBody>
      </p:sp>
      <p:sp>
        <p:nvSpPr>
          <p:cNvPr id="4" name="circulo-1"/>
          <p:cNvSpPr/>
          <p:nvPr/>
        </p:nvSpPr>
        <p:spPr>
          <a:xfrm>
            <a:off x="10241280" y="64008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o-2"/>
          <p:cNvSpPr txBox="1"/>
          <p:nvPr/>
        </p:nvSpPr>
        <p:spPr>
          <a:xfrm>
            <a:off x="10241280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🪙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sistema funciona</a:t>
            </a:r>
            <a:endParaRPr lang="en-US" sz="3200" dirty="0"/>
          </a:p>
        </p:txBody>
      </p:sp>
      <p:sp>
        <p:nvSpPr>
          <p:cNvPr id="3" name="cartao-3"/>
          <p:cNvSpPr/>
          <p:nvPr/>
        </p:nvSpPr>
        <p:spPr>
          <a:xfrm>
            <a:off x="548640" y="1417320"/>
            <a:ext cx="3154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circulo-4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o-5"/>
          <p:cNvSpPr txBox="1"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🏫</a:t>
            </a:r>
            <a:endParaRPr lang="en-US" sz="2300" dirty="0"/>
          </a:p>
        </p:txBody>
      </p:sp>
      <p:sp>
        <p:nvSpPr>
          <p:cNvPr id="6" name="texto-6"/>
          <p:cNvSpPr txBox="1"/>
          <p:nvPr/>
        </p:nvSpPr>
        <p:spPr>
          <a:xfrm>
            <a:off x="1828800" y="169164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Professor</a:t>
            </a:r>
            <a:endParaRPr lang="en-US" sz="2200" dirty="0"/>
          </a:p>
        </p:txBody>
      </p:sp>
      <p:sp>
        <p:nvSpPr>
          <p:cNvPr id="7" name="texto-7"/>
          <p:cNvSpPr txBox="1"/>
          <p:nvPr/>
        </p:nvSpPr>
        <p:spPr>
          <a:xfrm>
            <a:off x="822960" y="27432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Recebe 1.000 moedas por semestre e reconhece alunos com moedas e uma mensagem.</a:t>
            </a:r>
            <a:endParaRPr lang="en-US" sz="1600" dirty="0"/>
          </a:p>
        </p:txBody>
      </p:sp>
      <p:sp>
        <p:nvSpPr>
          <p:cNvPr id="8" name="cartao-8"/>
          <p:cNvSpPr/>
          <p:nvPr/>
        </p:nvSpPr>
        <p:spPr>
          <a:xfrm>
            <a:off x="4526280" y="1417320"/>
            <a:ext cx="3154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circulo-9"/>
          <p:cNvSpPr/>
          <p:nvPr/>
        </p:nvSpPr>
        <p:spPr>
          <a:xfrm>
            <a:off x="4800600" y="169164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o-10"/>
          <p:cNvSpPr txBox="1"/>
          <p:nvPr/>
        </p:nvSpPr>
        <p:spPr>
          <a:xfrm>
            <a:off x="480060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🎓</a:t>
            </a:r>
            <a:endParaRPr lang="en-US" sz="2300" dirty="0"/>
          </a:p>
        </p:txBody>
      </p:sp>
      <p:sp>
        <p:nvSpPr>
          <p:cNvPr id="11" name="texto-11"/>
          <p:cNvSpPr txBox="1"/>
          <p:nvPr/>
        </p:nvSpPr>
        <p:spPr>
          <a:xfrm>
            <a:off x="5806440" y="169164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Aluno</a:t>
            </a:r>
            <a:endParaRPr lang="en-US" sz="2200" dirty="0"/>
          </a:p>
        </p:txBody>
      </p:sp>
      <p:sp>
        <p:nvSpPr>
          <p:cNvPr id="12" name="texto-12"/>
          <p:cNvSpPr txBox="1"/>
          <p:nvPr/>
        </p:nvSpPr>
        <p:spPr>
          <a:xfrm>
            <a:off x="4800600" y="27432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Acumula as moedas, consulta o extrato e troca por vantagens das empresas.</a:t>
            </a:r>
            <a:endParaRPr lang="en-US" sz="1600" dirty="0"/>
          </a:p>
        </p:txBody>
      </p:sp>
      <p:sp>
        <p:nvSpPr>
          <p:cNvPr id="13" name="cartao-13"/>
          <p:cNvSpPr/>
          <p:nvPr/>
        </p:nvSpPr>
        <p:spPr>
          <a:xfrm>
            <a:off x="8503920" y="1417320"/>
            <a:ext cx="3154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4" name="circulo-14"/>
          <p:cNvSpPr/>
          <p:nvPr/>
        </p:nvSpPr>
        <p:spPr>
          <a:xfrm>
            <a:off x="8778240" y="169164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o-15"/>
          <p:cNvSpPr txBox="1"/>
          <p:nvPr/>
        </p:nvSpPr>
        <p:spPr>
          <a:xfrm>
            <a:off x="877824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🏢</a:t>
            </a:r>
            <a:endParaRPr lang="en-US" sz="2300" dirty="0"/>
          </a:p>
        </p:txBody>
      </p:sp>
      <p:sp>
        <p:nvSpPr>
          <p:cNvPr id="16" name="texto-16"/>
          <p:cNvSpPr txBox="1"/>
          <p:nvPr/>
        </p:nvSpPr>
        <p:spPr>
          <a:xfrm>
            <a:off x="9784080" y="169164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Empresa parceira</a:t>
            </a:r>
            <a:endParaRPr lang="en-US" sz="2200" dirty="0"/>
          </a:p>
        </p:txBody>
      </p:sp>
      <p:sp>
        <p:nvSpPr>
          <p:cNvPr id="17" name="texto-17"/>
          <p:cNvSpPr txBox="1"/>
          <p:nvPr/>
        </p:nvSpPr>
        <p:spPr>
          <a:xfrm>
            <a:off x="8778240" y="27432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Cadastra vantagens com foto e custo em moedas e confere o cupom do aluno.</a:t>
            </a:r>
            <a:endParaRPr lang="en-US" sz="1600" dirty="0"/>
          </a:p>
        </p:txBody>
      </p:sp>
      <p:sp>
        <p:nvSpPr>
          <p:cNvPr id="18" name="seta-18"/>
          <p:cNvSpPr/>
          <p:nvPr/>
        </p:nvSpPr>
        <p:spPr>
          <a:xfrm>
            <a:off x="3703320" y="251460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texto-19"/>
          <p:cNvSpPr txBox="1"/>
          <p:nvPr/>
        </p:nvSpPr>
        <p:spPr>
          <a:xfrm>
            <a:off x="3703320" y="3017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envia moedas</a:t>
            </a:r>
            <a:endParaRPr lang="en-US" sz="1300" dirty="0"/>
          </a:p>
        </p:txBody>
      </p:sp>
      <p:sp>
        <p:nvSpPr>
          <p:cNvPr id="20" name="seta-20"/>
          <p:cNvSpPr/>
          <p:nvPr/>
        </p:nvSpPr>
        <p:spPr>
          <a:xfrm>
            <a:off x="7680960" y="251460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texto-21"/>
          <p:cNvSpPr txBox="1"/>
          <p:nvPr/>
        </p:nvSpPr>
        <p:spPr>
          <a:xfrm>
            <a:off x="7680960" y="3017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resgata vantagem</a:t>
            </a:r>
            <a:endParaRPr lang="en-US" sz="1300" dirty="0"/>
          </a:p>
        </p:txBody>
      </p:sp>
      <p:sp>
        <p:nvSpPr>
          <p:cNvPr id="22" name="cartao-22"/>
          <p:cNvSpPr/>
          <p:nvPr/>
        </p:nvSpPr>
        <p:spPr>
          <a:xfrm>
            <a:off x="548640" y="4526280"/>
            <a:ext cx="1110996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sp>
        <p:nvSpPr>
          <p:cNvPr id="23" name="circulo-23"/>
          <p:cNvSpPr/>
          <p:nvPr/>
        </p:nvSpPr>
        <p:spPr>
          <a:xfrm>
            <a:off x="868680" y="47548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o-24"/>
          <p:cNvSpPr txBox="1"/>
          <p:nvPr/>
        </p:nvSpPr>
        <p:spPr>
          <a:xfrm>
            <a:off x="868680" y="4754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✉</a:t>
            </a:r>
            <a:endParaRPr lang="en-US" sz="2500" dirty="0"/>
          </a:p>
        </p:txBody>
      </p:sp>
      <p:sp>
        <p:nvSpPr>
          <p:cNvPr id="25" name="texto-25"/>
          <p:cNvSpPr txBox="1"/>
          <p:nvPr/>
        </p:nvSpPr>
        <p:spPr>
          <a:xfrm>
            <a:off x="2011680" y="47091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E-mails automáticos</a:t>
            </a:r>
            <a:endParaRPr lang="en-US" sz="2000" dirty="0"/>
          </a:p>
        </p:txBody>
      </p:sp>
      <p:sp>
        <p:nvSpPr>
          <p:cNvPr id="26" name="texto-26"/>
          <p:cNvSpPr txBox="1"/>
          <p:nvPr/>
        </p:nvSpPr>
        <p:spPr>
          <a:xfrm>
            <a:off x="2011680" y="516636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 aluno é avisado ao receber moedas. No resgate, ele recebe o cupom e a empresa recebe a conferência, os dois com o mesmo código.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Requisitos do enunciado atendidos</a:t>
            </a:r>
            <a:endParaRPr lang="en-US" sz="3200" dirty="0"/>
          </a:p>
        </p:txBody>
      </p:sp>
      <p:sp>
        <p:nvSpPr>
          <p:cNvPr id="3" name="cartao-27"/>
          <p:cNvSpPr/>
          <p:nvPr/>
        </p:nvSpPr>
        <p:spPr>
          <a:xfrm>
            <a:off x="548640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4" name="circulo-28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o-29"/>
          <p:cNvSpPr txBox="1"/>
          <p:nvPr/>
        </p:nvSpPr>
        <p:spPr>
          <a:xfrm>
            <a:off x="7772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o-30"/>
          <p:cNvSpPr txBox="1"/>
          <p:nvPr/>
        </p:nvSpPr>
        <p:spPr>
          <a:xfrm>
            <a:off x="141732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Cadastros</a:t>
            </a:r>
            <a:endParaRPr lang="en-US" sz="1800" dirty="0"/>
          </a:p>
        </p:txBody>
      </p:sp>
      <p:sp>
        <p:nvSpPr>
          <p:cNvPr id="7" name="texto-31"/>
          <p:cNvSpPr txBox="1"/>
          <p:nvPr/>
        </p:nvSpPr>
        <p:spPr>
          <a:xfrm>
            <a:off x="777240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Aluno e empresa parceira, com CRUD completo e validações</a:t>
            </a:r>
            <a:endParaRPr lang="en-US" sz="1500" dirty="0"/>
          </a:p>
        </p:txBody>
      </p:sp>
      <p:sp>
        <p:nvSpPr>
          <p:cNvPr id="8" name="cartao-32"/>
          <p:cNvSpPr/>
          <p:nvPr/>
        </p:nvSpPr>
        <p:spPr>
          <a:xfrm>
            <a:off x="3355848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9" name="circulo-33"/>
          <p:cNvSpPr/>
          <p:nvPr/>
        </p:nvSpPr>
        <p:spPr>
          <a:xfrm>
            <a:off x="3584448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o-34"/>
          <p:cNvSpPr txBox="1"/>
          <p:nvPr/>
        </p:nvSpPr>
        <p:spPr>
          <a:xfrm>
            <a:off x="3584448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o-35"/>
          <p:cNvSpPr txBox="1"/>
          <p:nvPr/>
        </p:nvSpPr>
        <p:spPr>
          <a:xfrm>
            <a:off x="4224528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Login e senha</a:t>
            </a:r>
            <a:endParaRPr lang="en-US" sz="1800" dirty="0"/>
          </a:p>
        </p:txBody>
      </p:sp>
      <p:sp>
        <p:nvSpPr>
          <p:cNvPr id="12" name="texto-36"/>
          <p:cNvSpPr txBox="1"/>
          <p:nvPr/>
        </p:nvSpPr>
        <p:spPr>
          <a:xfrm>
            <a:off x="3584448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Alunos, professores e empresas, com perfis separados</a:t>
            </a:r>
            <a:endParaRPr lang="en-US" sz="1500" dirty="0"/>
          </a:p>
        </p:txBody>
      </p:sp>
      <p:sp>
        <p:nvSpPr>
          <p:cNvPr id="13" name="cartao-37"/>
          <p:cNvSpPr/>
          <p:nvPr/>
        </p:nvSpPr>
        <p:spPr>
          <a:xfrm>
            <a:off x="6163056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4" name="circulo-38"/>
          <p:cNvSpPr/>
          <p:nvPr/>
        </p:nvSpPr>
        <p:spPr>
          <a:xfrm>
            <a:off x="6391656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o-39"/>
          <p:cNvSpPr txBox="1"/>
          <p:nvPr/>
        </p:nvSpPr>
        <p:spPr>
          <a:xfrm>
            <a:off x="639165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o-40"/>
          <p:cNvSpPr txBox="1"/>
          <p:nvPr/>
        </p:nvSpPr>
        <p:spPr>
          <a:xfrm>
            <a:off x="7031736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Moedas do semestre</a:t>
            </a:r>
            <a:endParaRPr lang="en-US" sz="1800" dirty="0"/>
          </a:p>
        </p:txBody>
      </p:sp>
      <p:sp>
        <p:nvSpPr>
          <p:cNvPr id="17" name="texto-41"/>
          <p:cNvSpPr txBox="1"/>
          <p:nvPr/>
        </p:nvSpPr>
        <p:spPr>
          <a:xfrm>
            <a:off x="6391656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Professor recebe 1.000 moedas, acumuláveis</a:t>
            </a:r>
            <a:endParaRPr lang="en-US" sz="1500" dirty="0"/>
          </a:p>
        </p:txBody>
      </p:sp>
      <p:sp>
        <p:nvSpPr>
          <p:cNvPr id="18" name="cartao-42"/>
          <p:cNvSpPr/>
          <p:nvPr/>
        </p:nvSpPr>
        <p:spPr>
          <a:xfrm>
            <a:off x="8970264" y="141732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circulo-43"/>
          <p:cNvSpPr/>
          <p:nvPr/>
        </p:nvSpPr>
        <p:spPr>
          <a:xfrm>
            <a:off x="9198864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texto-44"/>
          <p:cNvSpPr txBox="1"/>
          <p:nvPr/>
        </p:nvSpPr>
        <p:spPr>
          <a:xfrm>
            <a:off x="9198864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o-45"/>
          <p:cNvSpPr txBox="1"/>
          <p:nvPr/>
        </p:nvSpPr>
        <p:spPr>
          <a:xfrm>
            <a:off x="9838944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Envio de moedas</a:t>
            </a:r>
            <a:endParaRPr lang="en-US" sz="1800" dirty="0"/>
          </a:p>
        </p:txBody>
      </p:sp>
      <p:sp>
        <p:nvSpPr>
          <p:cNvPr id="22" name="texto-46"/>
          <p:cNvSpPr txBox="1"/>
          <p:nvPr/>
        </p:nvSpPr>
        <p:spPr>
          <a:xfrm>
            <a:off x="9198864" y="2331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Saldo conferido e mensagem obrigatória</a:t>
            </a:r>
            <a:endParaRPr lang="en-US" sz="1500" dirty="0"/>
          </a:p>
        </p:txBody>
      </p:sp>
      <p:sp>
        <p:nvSpPr>
          <p:cNvPr id="23" name="cartao-47"/>
          <p:cNvSpPr/>
          <p:nvPr/>
        </p:nvSpPr>
        <p:spPr>
          <a:xfrm>
            <a:off x="548640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4" name="circulo-48"/>
          <p:cNvSpPr/>
          <p:nvPr/>
        </p:nvSpPr>
        <p:spPr>
          <a:xfrm>
            <a:off x="777240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5" name="texto-49"/>
          <p:cNvSpPr txBox="1"/>
          <p:nvPr/>
        </p:nvSpPr>
        <p:spPr>
          <a:xfrm>
            <a:off x="77724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o-50"/>
          <p:cNvSpPr txBox="1"/>
          <p:nvPr/>
        </p:nvSpPr>
        <p:spPr>
          <a:xfrm>
            <a:off x="1417320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Extrato</a:t>
            </a:r>
            <a:endParaRPr lang="en-US" sz="1800" dirty="0"/>
          </a:p>
        </p:txBody>
      </p:sp>
      <p:sp>
        <p:nvSpPr>
          <p:cNvPr id="27" name="texto-51"/>
          <p:cNvSpPr txBox="1"/>
          <p:nvPr/>
        </p:nvSpPr>
        <p:spPr>
          <a:xfrm>
            <a:off x="777240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Saldo e movimentações de professor e de aluno</a:t>
            </a:r>
            <a:endParaRPr lang="en-US" sz="1500" dirty="0"/>
          </a:p>
        </p:txBody>
      </p:sp>
      <p:sp>
        <p:nvSpPr>
          <p:cNvPr id="28" name="cartao-52"/>
          <p:cNvSpPr/>
          <p:nvPr/>
        </p:nvSpPr>
        <p:spPr>
          <a:xfrm>
            <a:off x="3355848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9" name="circulo-53"/>
          <p:cNvSpPr/>
          <p:nvPr/>
        </p:nvSpPr>
        <p:spPr>
          <a:xfrm>
            <a:off x="3584448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0" name="texto-54"/>
          <p:cNvSpPr txBox="1"/>
          <p:nvPr/>
        </p:nvSpPr>
        <p:spPr>
          <a:xfrm>
            <a:off x="3584448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o-55"/>
          <p:cNvSpPr txBox="1"/>
          <p:nvPr/>
        </p:nvSpPr>
        <p:spPr>
          <a:xfrm>
            <a:off x="4224528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Vantagens</a:t>
            </a:r>
            <a:endParaRPr lang="en-US" sz="1800" dirty="0"/>
          </a:p>
        </p:txBody>
      </p:sp>
      <p:sp>
        <p:nvSpPr>
          <p:cNvPr id="32" name="texto-56"/>
          <p:cNvSpPr txBox="1"/>
          <p:nvPr/>
        </p:nvSpPr>
        <p:spPr>
          <a:xfrm>
            <a:off x="3584448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Descrição, foto do produto e custo em moedas</a:t>
            </a:r>
            <a:endParaRPr lang="en-US" sz="1500" dirty="0"/>
          </a:p>
        </p:txBody>
      </p:sp>
      <p:sp>
        <p:nvSpPr>
          <p:cNvPr id="33" name="cartao-57"/>
          <p:cNvSpPr/>
          <p:nvPr/>
        </p:nvSpPr>
        <p:spPr>
          <a:xfrm>
            <a:off x="6163056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4" name="circulo-58"/>
          <p:cNvSpPr/>
          <p:nvPr/>
        </p:nvSpPr>
        <p:spPr>
          <a:xfrm>
            <a:off x="6391656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5" name="texto-59"/>
          <p:cNvSpPr txBox="1"/>
          <p:nvPr/>
        </p:nvSpPr>
        <p:spPr>
          <a:xfrm>
            <a:off x="6391656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o-60"/>
          <p:cNvSpPr txBox="1"/>
          <p:nvPr/>
        </p:nvSpPr>
        <p:spPr>
          <a:xfrm>
            <a:off x="7031736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Resgate</a:t>
            </a:r>
            <a:endParaRPr lang="en-US" sz="1800" dirty="0"/>
          </a:p>
        </p:txBody>
      </p:sp>
      <p:sp>
        <p:nvSpPr>
          <p:cNvPr id="37" name="texto-61"/>
          <p:cNvSpPr txBox="1"/>
          <p:nvPr/>
        </p:nvSpPr>
        <p:spPr>
          <a:xfrm>
            <a:off x="6391656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Desconta o saldo e gera o código do cupom</a:t>
            </a:r>
            <a:endParaRPr lang="en-US" sz="1500" dirty="0"/>
          </a:p>
        </p:txBody>
      </p:sp>
      <p:sp>
        <p:nvSpPr>
          <p:cNvPr id="38" name="cartao-62"/>
          <p:cNvSpPr/>
          <p:nvPr/>
        </p:nvSpPr>
        <p:spPr>
          <a:xfrm>
            <a:off x="8970264" y="3840480"/>
            <a:ext cx="26243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9" name="circulo-63"/>
          <p:cNvSpPr/>
          <p:nvPr/>
        </p:nvSpPr>
        <p:spPr>
          <a:xfrm>
            <a:off x="9198864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0" name="texto-64"/>
          <p:cNvSpPr txBox="1"/>
          <p:nvPr/>
        </p:nvSpPr>
        <p:spPr>
          <a:xfrm>
            <a:off x="9198864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41" name="texto-65"/>
          <p:cNvSpPr txBox="1"/>
          <p:nvPr/>
        </p:nvSpPr>
        <p:spPr>
          <a:xfrm>
            <a:off x="9838944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E-mails</a:t>
            </a:r>
            <a:endParaRPr lang="en-US" sz="1800" dirty="0"/>
          </a:p>
        </p:txBody>
      </p:sp>
      <p:sp>
        <p:nvSpPr>
          <p:cNvPr id="42" name="texto-66"/>
          <p:cNvSpPr txBox="1"/>
          <p:nvPr/>
        </p:nvSpPr>
        <p:spPr>
          <a:xfrm>
            <a:off x="9198864" y="47548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Aviso ao aluno, cupom e conferência da empresa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uso</a:t>
            </a:r>
            <a:endParaRPr lang="en-US" sz="3200" dirty="0"/>
          </a:p>
        </p:txBody>
      </p:sp>
      <p:pic>
        <p:nvPicPr>
          <p:cNvPr id="3" name="imagem-67" descr="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8893" y="1280160"/>
            <a:ext cx="4831166" cy="5074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em camadas (MVC)</a:t>
            </a:r>
            <a:endParaRPr lang="en-US" sz="3200" dirty="0"/>
          </a:p>
        </p:txBody>
      </p:sp>
      <p:pic>
        <p:nvPicPr>
          <p:cNvPr id="3" name="imagem-68" descr="compon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5024317"/>
          </a:xfrm>
          <a:prstGeom prst="rect">
            <a:avLst/>
          </a:prstGeom>
        </p:spPr>
      </p:pic>
      <p:sp>
        <p:nvSpPr>
          <p:cNvPr id="4" name="cartao-69"/>
          <p:cNvSpPr/>
          <p:nvPr/>
        </p:nvSpPr>
        <p:spPr>
          <a:xfrm>
            <a:off x="8366760" y="141732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marcador-70"/>
          <p:cNvSpPr/>
          <p:nvPr/>
        </p:nvSpPr>
        <p:spPr>
          <a:xfrm>
            <a:off x="8549640" y="178308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o-71"/>
          <p:cNvSpPr txBox="1"/>
          <p:nvPr/>
        </p:nvSpPr>
        <p:spPr>
          <a:xfrm>
            <a:off x="909828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View</a:t>
            </a:r>
            <a:endParaRPr lang="en-US" sz="1800" dirty="0"/>
          </a:p>
        </p:txBody>
      </p:sp>
      <p:sp>
        <p:nvSpPr>
          <p:cNvPr id="7" name="texto-72"/>
          <p:cNvSpPr txBox="1"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React + TypeScript consome a API por HTTP</a:t>
            </a:r>
            <a:endParaRPr lang="en-US" sz="1300" dirty="0"/>
          </a:p>
        </p:txBody>
      </p:sp>
      <p:sp>
        <p:nvSpPr>
          <p:cNvPr id="8" name="cartao-73"/>
          <p:cNvSpPr/>
          <p:nvPr/>
        </p:nvSpPr>
        <p:spPr>
          <a:xfrm>
            <a:off x="8366760" y="265176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marcador-74"/>
          <p:cNvSpPr/>
          <p:nvPr/>
        </p:nvSpPr>
        <p:spPr>
          <a:xfrm>
            <a:off x="8549640" y="30175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75"/>
          <p:cNvSpPr txBox="1"/>
          <p:nvPr/>
        </p:nvSpPr>
        <p:spPr>
          <a:xfrm>
            <a:off x="9098280" y="2761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Controller</a:t>
            </a:r>
            <a:endParaRPr lang="en-US" sz="1800" dirty="0"/>
          </a:p>
        </p:txBody>
      </p:sp>
      <p:sp>
        <p:nvSpPr>
          <p:cNvPr id="11" name="texto-76"/>
          <p:cNvSpPr txBox="1"/>
          <p:nvPr/>
        </p:nvSpPr>
        <p:spPr>
          <a:xfrm>
            <a:off x="9098280" y="3154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FastAPI: rotas, validação e perfis</a:t>
            </a:r>
            <a:endParaRPr lang="en-US" sz="1300" dirty="0"/>
          </a:p>
        </p:txBody>
      </p:sp>
      <p:sp>
        <p:nvSpPr>
          <p:cNvPr id="12" name="cartao-77"/>
          <p:cNvSpPr/>
          <p:nvPr/>
        </p:nvSpPr>
        <p:spPr>
          <a:xfrm>
            <a:off x="8366760" y="388620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3" name="marcador-78"/>
          <p:cNvSpPr/>
          <p:nvPr/>
        </p:nvSpPr>
        <p:spPr>
          <a:xfrm>
            <a:off x="8549640" y="42519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o-79"/>
          <p:cNvSpPr txBox="1"/>
          <p:nvPr/>
        </p:nvSpPr>
        <p:spPr>
          <a:xfrm>
            <a:off x="9098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</a:t>
            </a:r>
            <a:endParaRPr lang="en-US" sz="1800" dirty="0"/>
          </a:p>
        </p:txBody>
      </p:sp>
      <p:sp>
        <p:nvSpPr>
          <p:cNvPr id="15" name="texto-80"/>
          <p:cNvSpPr txBox="1"/>
          <p:nvPr/>
        </p:nvSpPr>
        <p:spPr>
          <a:xfrm>
            <a:off x="9098280" y="4389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Serviços de regra de negócio e entidades</a:t>
            </a:r>
            <a:endParaRPr lang="en-US" sz="1300" dirty="0"/>
          </a:p>
        </p:txBody>
      </p:sp>
      <p:sp>
        <p:nvSpPr>
          <p:cNvPr id="16" name="cartao-81"/>
          <p:cNvSpPr/>
          <p:nvPr/>
        </p:nvSpPr>
        <p:spPr>
          <a:xfrm>
            <a:off x="8366760" y="512064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marcador-82"/>
          <p:cNvSpPr/>
          <p:nvPr/>
        </p:nvSpPr>
        <p:spPr>
          <a:xfrm>
            <a:off x="8549640" y="5486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o-83"/>
          <p:cNvSpPr txBox="1"/>
          <p:nvPr/>
        </p:nvSpPr>
        <p:spPr>
          <a:xfrm>
            <a:off x="9098280" y="5230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Persistência</a:t>
            </a:r>
            <a:endParaRPr lang="en-US" sz="1800" dirty="0"/>
          </a:p>
        </p:txBody>
      </p:sp>
      <p:sp>
        <p:nvSpPr>
          <p:cNvPr id="19" name="texto-84"/>
          <p:cNvSpPr txBox="1"/>
          <p:nvPr/>
        </p:nvSpPr>
        <p:spPr>
          <a:xfrm>
            <a:off x="9098280" y="5623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Repositórios, SQLAlchemy e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Diagrama de classes: o domínio</a:t>
            </a:r>
            <a:endParaRPr lang="en-US" sz="3200" dirty="0"/>
          </a:p>
        </p:txBody>
      </p:sp>
      <p:pic>
        <p:nvPicPr>
          <p:cNvPr id="3" name="imagem-85" descr="Diagrama de classes do domínio: usuários, contas, transações e vantag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471" y="1280160"/>
            <a:ext cx="5738897" cy="5074920"/>
          </a:xfrm>
          <a:prstGeom prst="rect">
            <a:avLst/>
          </a:prstGeom>
        </p:spPr>
      </p:pic>
      <p:sp>
        <p:nvSpPr>
          <p:cNvPr id="4" name="cartao-86"/>
          <p:cNvSpPr/>
          <p:nvPr/>
        </p:nvSpPr>
        <p:spPr>
          <a:xfrm>
            <a:off x="7589520" y="1371600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texto-87"/>
          <p:cNvSpPr txBox="1"/>
          <p:nvPr/>
        </p:nvSpPr>
        <p:spPr>
          <a:xfrm>
            <a:off x="7818120" y="1481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Usuários</a:t>
            </a:r>
            <a:endParaRPr lang="en-US" sz="1700" dirty="0"/>
          </a:p>
        </p:txBody>
      </p:sp>
      <p:sp>
        <p:nvSpPr>
          <p:cNvPr id="6" name="texto-88"/>
          <p:cNvSpPr txBox="1"/>
          <p:nvPr/>
        </p:nvSpPr>
        <p:spPr>
          <a:xfrm>
            <a:off x="7818120" y="18288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Aluno e Professor herdam de MembroInstituicao; a empresa herda de Usuario.</a:t>
            </a:r>
            <a:endParaRPr lang="en-US" sz="1400" dirty="0"/>
          </a:p>
        </p:txBody>
      </p:sp>
      <p:sp>
        <p:nvSpPr>
          <p:cNvPr id="7" name="cartao-89"/>
          <p:cNvSpPr/>
          <p:nvPr/>
        </p:nvSpPr>
        <p:spPr>
          <a:xfrm>
            <a:off x="7589520" y="2633472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8" name="texto-90"/>
          <p:cNvSpPr txBox="1"/>
          <p:nvPr/>
        </p:nvSpPr>
        <p:spPr>
          <a:xfrm>
            <a:off x="781812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Contas</a:t>
            </a:r>
            <a:endParaRPr lang="en-US" sz="1700" dirty="0"/>
          </a:p>
        </p:txBody>
      </p:sp>
      <p:sp>
        <p:nvSpPr>
          <p:cNvPr id="9" name="texto-91"/>
          <p:cNvSpPr txBox="1"/>
          <p:nvPr/>
        </p:nvSpPr>
        <p:spPr>
          <a:xfrm>
            <a:off x="7818120" y="30906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aluno e cada professor tem uma Conta com o saldo em moedas.</a:t>
            </a:r>
            <a:endParaRPr lang="en-US" sz="1400" dirty="0"/>
          </a:p>
        </p:txBody>
      </p:sp>
      <p:sp>
        <p:nvSpPr>
          <p:cNvPr id="10" name="cartao-92"/>
          <p:cNvSpPr/>
          <p:nvPr/>
        </p:nvSpPr>
        <p:spPr>
          <a:xfrm>
            <a:off x="7589520" y="3895344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1" name="texto-93"/>
          <p:cNvSpPr txBox="1"/>
          <p:nvPr/>
        </p:nvSpPr>
        <p:spPr>
          <a:xfrm>
            <a:off x="7818120" y="40050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Transações</a:t>
            </a:r>
            <a:endParaRPr lang="en-US" sz="1700" dirty="0"/>
          </a:p>
        </p:txBody>
      </p:sp>
      <p:sp>
        <p:nvSpPr>
          <p:cNvPr id="12" name="texto-94"/>
          <p:cNvSpPr txBox="1"/>
          <p:nvPr/>
        </p:nvSpPr>
        <p:spPr>
          <a:xfrm>
            <a:off x="7818120" y="4352544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EnvioMoedas e ResgateVantagem especializam Transacao.</a:t>
            </a:r>
            <a:endParaRPr lang="en-US" sz="1400" dirty="0"/>
          </a:p>
        </p:txBody>
      </p:sp>
      <p:sp>
        <p:nvSpPr>
          <p:cNvPr id="13" name="cartao-95"/>
          <p:cNvSpPr/>
          <p:nvPr/>
        </p:nvSpPr>
        <p:spPr>
          <a:xfrm>
            <a:off x="7589520" y="5157216"/>
            <a:ext cx="40690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texto-96"/>
          <p:cNvSpPr txBox="1"/>
          <p:nvPr/>
        </p:nvSpPr>
        <p:spPr>
          <a:xfrm>
            <a:off x="7818120" y="52669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Vantagens</a:t>
            </a:r>
            <a:endParaRPr lang="en-US" sz="1700" dirty="0"/>
          </a:p>
        </p:txBody>
      </p:sp>
      <p:sp>
        <p:nvSpPr>
          <p:cNvPr id="15" name="texto-97"/>
          <p:cNvSpPr txBox="1"/>
          <p:nvPr/>
        </p:nvSpPr>
        <p:spPr>
          <a:xfrm>
            <a:off x="7818120" y="561441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Pertencem a uma EmpresaParceira e são trocadas por moedas.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Diagrama de classes: serviços e persistência</a:t>
            </a:r>
            <a:endParaRPr lang="en-US" sz="3200" dirty="0"/>
          </a:p>
        </p:txBody>
      </p:sp>
      <p:pic>
        <p:nvPicPr>
          <p:cNvPr id="3" name="imagem-98" descr="Diagrama de classes dos serviços, das interfaces dos repositórios e de suas implementaç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293" y="1280160"/>
            <a:ext cx="4582134" cy="5074920"/>
          </a:xfrm>
          <a:prstGeom prst="rect">
            <a:avLst/>
          </a:prstGeom>
        </p:spPr>
      </p:pic>
      <p:sp>
        <p:nvSpPr>
          <p:cNvPr id="4" name="cartao-99"/>
          <p:cNvSpPr/>
          <p:nvPr/>
        </p:nvSpPr>
        <p:spPr>
          <a:xfrm>
            <a:off x="7772400" y="1371600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texto-100"/>
          <p:cNvSpPr txBox="1"/>
          <p:nvPr/>
        </p:nvSpPr>
        <p:spPr>
          <a:xfrm>
            <a:off x="8001000" y="14813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Serviços</a:t>
            </a:r>
            <a:endParaRPr lang="en-US" sz="1700" dirty="0"/>
          </a:p>
        </p:txBody>
      </p:sp>
      <p:sp>
        <p:nvSpPr>
          <p:cNvPr id="6" name="texto-101"/>
          <p:cNvSpPr txBox="1"/>
          <p:nvPr/>
        </p:nvSpPr>
        <p:spPr>
          <a:xfrm>
            <a:off x="8001000" y="18288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Concentram as regras: cadastros, login, vantagens e moedas.</a:t>
            </a:r>
            <a:endParaRPr lang="en-US" sz="1400" dirty="0"/>
          </a:p>
        </p:txBody>
      </p:sp>
      <p:sp>
        <p:nvSpPr>
          <p:cNvPr id="7" name="cartao-102"/>
          <p:cNvSpPr/>
          <p:nvPr/>
        </p:nvSpPr>
        <p:spPr>
          <a:xfrm>
            <a:off x="7772400" y="2633472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8" name="texto-103"/>
          <p:cNvSpPr txBox="1"/>
          <p:nvPr/>
        </p:nvSpPr>
        <p:spPr>
          <a:xfrm>
            <a:off x="80010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Interfaces</a:t>
            </a:r>
            <a:endParaRPr lang="en-US" sz="1700" dirty="0"/>
          </a:p>
        </p:txBody>
      </p:sp>
      <p:sp>
        <p:nvSpPr>
          <p:cNvPr id="9" name="texto-104"/>
          <p:cNvSpPr txBox="1"/>
          <p:nvPr/>
        </p:nvSpPr>
        <p:spPr>
          <a:xfrm>
            <a:off x="8001000" y="309067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serviço depende de interfaces (repositórios, fotos e e-mail).</a:t>
            </a:r>
            <a:endParaRPr lang="en-US" sz="1400" dirty="0"/>
          </a:p>
        </p:txBody>
      </p:sp>
      <p:sp>
        <p:nvSpPr>
          <p:cNvPr id="10" name="cartao-105"/>
          <p:cNvSpPr/>
          <p:nvPr/>
        </p:nvSpPr>
        <p:spPr>
          <a:xfrm>
            <a:off x="7772400" y="3895344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1" name="texto-106"/>
          <p:cNvSpPr txBox="1"/>
          <p:nvPr/>
        </p:nvSpPr>
        <p:spPr>
          <a:xfrm>
            <a:off x="8001000" y="40050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Implementações</a:t>
            </a:r>
            <a:endParaRPr lang="en-US" sz="1700" dirty="0"/>
          </a:p>
        </p:txBody>
      </p:sp>
      <p:sp>
        <p:nvSpPr>
          <p:cNvPr id="12" name="texto-107"/>
          <p:cNvSpPr txBox="1"/>
          <p:nvPr/>
        </p:nvSpPr>
        <p:spPr>
          <a:xfrm>
            <a:off x="8001000" y="4352544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Repositórios com SQLAlchemy, fotos em disco e e-mail por SMTP.</a:t>
            </a:r>
            <a:endParaRPr lang="en-US" sz="1400" dirty="0"/>
          </a:p>
        </p:txBody>
      </p:sp>
      <p:sp>
        <p:nvSpPr>
          <p:cNvPr id="13" name="cartao-108"/>
          <p:cNvSpPr/>
          <p:nvPr/>
        </p:nvSpPr>
        <p:spPr>
          <a:xfrm>
            <a:off x="7772400" y="5157216"/>
            <a:ext cx="38862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texto-109"/>
          <p:cNvSpPr txBox="1"/>
          <p:nvPr/>
        </p:nvSpPr>
        <p:spPr>
          <a:xfrm>
            <a:off x="8001000" y="52669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Conferido</a:t>
            </a:r>
            <a:endParaRPr lang="en-US" sz="1700" dirty="0"/>
          </a:p>
        </p:txBody>
      </p:sp>
      <p:sp>
        <p:nvSpPr>
          <p:cNvPr id="15" name="texto-110"/>
          <p:cNvSpPr txBox="1"/>
          <p:nvPr/>
        </p:nvSpPr>
        <p:spPr>
          <a:xfrm>
            <a:off x="8001000" y="5614416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 40 classes do diagrama foram comparadas com o código.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Camada de persistência: ORM + Repository</a:t>
            </a:r>
            <a:endParaRPr lang="en-US" sz="3200" dirty="0"/>
          </a:p>
        </p:txBody>
      </p:sp>
      <p:sp>
        <p:nvSpPr>
          <p:cNvPr id="3" name="passo-111"/>
          <p:cNvSpPr/>
          <p:nvPr/>
        </p:nvSpPr>
        <p:spPr>
          <a:xfrm>
            <a:off x="548640" y="1371600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" name="texto-112"/>
          <p:cNvSpPr txBox="1"/>
          <p:nvPr/>
        </p:nvSpPr>
        <p:spPr>
          <a:xfrm>
            <a:off x="777240" y="14447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Controller</a:t>
            </a:r>
            <a:endParaRPr lang="en-US" sz="1700" dirty="0"/>
          </a:p>
        </p:txBody>
      </p:sp>
      <p:sp>
        <p:nvSpPr>
          <p:cNvPr id="5" name="texto-113"/>
          <p:cNvSpPr txBox="1"/>
          <p:nvPr/>
        </p:nvSpPr>
        <p:spPr>
          <a:xfrm>
            <a:off x="777240" y="17922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recebe a requisição</a:t>
            </a:r>
            <a:endParaRPr lang="en-US" sz="1300" dirty="0"/>
          </a:p>
        </p:txBody>
      </p:sp>
      <p:sp>
        <p:nvSpPr>
          <p:cNvPr id="6" name="seta-114"/>
          <p:cNvSpPr/>
          <p:nvPr/>
        </p:nvSpPr>
        <p:spPr>
          <a:xfrm>
            <a:off x="2560320" y="2157984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7" name="passo-115"/>
          <p:cNvSpPr/>
          <p:nvPr/>
        </p:nvSpPr>
        <p:spPr>
          <a:xfrm>
            <a:off x="548640" y="2350008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8" name="texto-116"/>
          <p:cNvSpPr txBox="1"/>
          <p:nvPr/>
        </p:nvSpPr>
        <p:spPr>
          <a:xfrm>
            <a:off x="777240" y="2423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Serviço</a:t>
            </a:r>
            <a:endParaRPr lang="en-US" sz="1700" dirty="0"/>
          </a:p>
        </p:txBody>
      </p:sp>
      <p:sp>
        <p:nvSpPr>
          <p:cNvPr id="9" name="texto-117"/>
          <p:cNvSpPr txBox="1"/>
          <p:nvPr/>
        </p:nvSpPr>
        <p:spPr>
          <a:xfrm>
            <a:off x="777240" y="27706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regras de negócio</a:t>
            </a:r>
            <a:endParaRPr lang="en-US" sz="1300" dirty="0"/>
          </a:p>
        </p:txBody>
      </p:sp>
      <p:sp>
        <p:nvSpPr>
          <p:cNvPr id="10" name="seta-118"/>
          <p:cNvSpPr/>
          <p:nvPr/>
        </p:nvSpPr>
        <p:spPr>
          <a:xfrm>
            <a:off x="2560320" y="3136392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1" name="passo-119"/>
          <p:cNvSpPr/>
          <p:nvPr/>
        </p:nvSpPr>
        <p:spPr>
          <a:xfrm>
            <a:off x="548640" y="3328416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/>
        </p:spPr>
      </p:sp>
      <p:sp>
        <p:nvSpPr>
          <p:cNvPr id="12" name="texto-120"/>
          <p:cNvSpPr txBox="1"/>
          <p:nvPr/>
        </p:nvSpPr>
        <p:spPr>
          <a:xfrm>
            <a:off x="777240" y="3401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«interface» Repositório</a:t>
            </a:r>
            <a:endParaRPr lang="en-US" sz="1700" dirty="0"/>
          </a:p>
        </p:txBody>
      </p:sp>
      <p:sp>
        <p:nvSpPr>
          <p:cNvPr id="13" name="texto-121"/>
          <p:cNvSpPr txBox="1"/>
          <p:nvPr/>
        </p:nvSpPr>
        <p:spPr>
          <a:xfrm>
            <a:off x="777240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contrato (ABC)</a:t>
            </a:r>
            <a:endParaRPr lang="en-US" sz="1300" dirty="0"/>
          </a:p>
        </p:txBody>
      </p:sp>
      <p:sp>
        <p:nvSpPr>
          <p:cNvPr id="14" name="seta-122"/>
          <p:cNvSpPr/>
          <p:nvPr/>
        </p:nvSpPr>
        <p:spPr>
          <a:xfrm>
            <a:off x="2560320" y="4114800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5" name="passo-123"/>
          <p:cNvSpPr/>
          <p:nvPr/>
        </p:nvSpPr>
        <p:spPr>
          <a:xfrm>
            <a:off x="548640" y="4306824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6" name="texto-124"/>
          <p:cNvSpPr txBox="1"/>
          <p:nvPr/>
        </p:nvSpPr>
        <p:spPr>
          <a:xfrm>
            <a:off x="777240" y="43799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Repositório + SQLAlchemy</a:t>
            </a:r>
            <a:endParaRPr lang="en-US" sz="1700" dirty="0"/>
          </a:p>
        </p:txBody>
      </p:sp>
      <p:sp>
        <p:nvSpPr>
          <p:cNvPr id="17" name="texto-125"/>
          <p:cNvSpPr txBox="1"/>
          <p:nvPr/>
        </p:nvSpPr>
        <p:spPr>
          <a:xfrm>
            <a:off x="777240" y="4727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consultas e mapeamento</a:t>
            </a:r>
            <a:endParaRPr lang="en-US" sz="1300" dirty="0"/>
          </a:p>
        </p:txBody>
      </p:sp>
      <p:sp>
        <p:nvSpPr>
          <p:cNvPr id="18" name="seta-126"/>
          <p:cNvSpPr/>
          <p:nvPr/>
        </p:nvSpPr>
        <p:spPr>
          <a:xfrm>
            <a:off x="2560320" y="5093208"/>
            <a:ext cx="274320" cy="18288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9" name="passo-127"/>
          <p:cNvSpPr/>
          <p:nvPr/>
        </p:nvSpPr>
        <p:spPr>
          <a:xfrm>
            <a:off x="548640" y="5285232"/>
            <a:ext cx="429768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0" name="texto-128"/>
          <p:cNvSpPr txBox="1"/>
          <p:nvPr/>
        </p:nvSpPr>
        <p:spPr>
          <a:xfrm>
            <a:off x="777240" y="535838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PostgreSQL</a:t>
            </a:r>
            <a:endParaRPr lang="en-US" sz="1700" dirty="0"/>
          </a:p>
        </p:txBody>
      </p:sp>
      <p:sp>
        <p:nvSpPr>
          <p:cNvPr id="21" name="texto-129"/>
          <p:cNvSpPr txBox="1"/>
          <p:nvPr/>
        </p:nvSpPr>
        <p:spPr>
          <a:xfrm>
            <a:off x="777240" y="5705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</a:t>
            </a:r>
            <a:endParaRPr lang="en-US" sz="1300" dirty="0"/>
          </a:p>
        </p:txBody>
      </p:sp>
      <p:sp>
        <p:nvSpPr>
          <p:cNvPr id="22" name="painel-codigo-130"/>
          <p:cNvSpPr/>
          <p:nvPr/>
        </p:nvSpPr>
        <p:spPr>
          <a:xfrm>
            <a:off x="5120640" y="1371600"/>
            <a:ext cx="6537960" cy="3611880"/>
          </a:xfrm>
          <a:prstGeom prst="roundRect">
            <a:avLst>
              <a:gd name="adj" fmla="val 2532"/>
            </a:avLst>
          </a:prstGeom>
          <a:solidFill>
            <a:schemeClr val="tx1"/>
          </a:solidFill>
          <a:ln/>
        </p:spPr>
      </p:sp>
      <p:sp>
        <p:nvSpPr>
          <p:cNvPr id="23" name="texto-131"/>
          <p:cNvSpPr txBox="1"/>
          <p:nvPr/>
        </p:nvSpPr>
        <p:spPr>
          <a:xfrm>
            <a:off x="5349240" y="1554480"/>
            <a:ext cx="6080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IRepositorioConta(ABC):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buscar_por_usuario(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self, id_usuario: int,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para_atualizar: bool = False,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 -&gt; Conta | None: ...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RepositorioConta(IRepositorioConta):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buscar_por_usuario(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self, id_usuario, para_atualizar=False):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consulta = select(Conta).where(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Conta.id_usuario == id_usuario)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para_atualizar: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consulta = consulta.with_for_update()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self.sessao.execute(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consulta).scalar_one_or_none()</a:t>
            </a:r>
            <a:endParaRPr lang="en-US" sz="1300" dirty="0"/>
          </a:p>
        </p:txBody>
      </p:sp>
      <p:sp>
        <p:nvSpPr>
          <p:cNvPr id="24" name="texto-132"/>
          <p:cNvSpPr txBox="1"/>
          <p:nvPr/>
        </p:nvSpPr>
        <p:spPr>
          <a:xfrm>
            <a:off x="5120640" y="5056632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src/back/app/repository (trecho resumido e reformatado)</a:t>
            </a:r>
            <a:endParaRPr lang="en-US" sz="1100" dirty="0"/>
          </a:p>
        </p:txBody>
      </p:sp>
      <p:sp>
        <p:nvSpPr>
          <p:cNvPr id="25" name="texto-133"/>
          <p:cNvSpPr txBox="1"/>
          <p:nvPr/>
        </p:nvSpPr>
        <p:spPr>
          <a:xfrm>
            <a:off x="5120640" y="5394960"/>
            <a:ext cx="6537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serviço depende da interface, não do banco (inversão de dependência).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Nos testes, repositórios falsos em memória substituem o PostgreSQL.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with_for_update trava o saldo durante um envio ou resgate.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Modelo entidade-relacionamento</a:t>
            </a:r>
            <a:endParaRPr lang="en-US" sz="3200" dirty="0"/>
          </a:p>
        </p:txBody>
      </p:sp>
      <p:pic>
        <p:nvPicPr>
          <p:cNvPr id="3" name="imagem-134" descr="modelo log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032" y="1280160"/>
            <a:ext cx="8340888" cy="5074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cadastro e login</a:t>
            </a:r>
            <a:endParaRPr lang="en-US" sz="3200" dirty="0"/>
          </a:p>
        </p:txBody>
      </p:sp>
      <p:pic>
        <p:nvPicPr>
          <p:cNvPr id="3" name="imagem-135" descr="Cadastro de aluno com validação por ca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307455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36" descr="Login recusado com mensagem em portuguê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258715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37"/>
          <p:cNvSpPr txBox="1"/>
          <p:nvPr/>
        </p:nvSpPr>
        <p:spPr>
          <a:xfrm>
            <a:off x="548640" y="4583311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Cadastro de aluno com validação por campo</a:t>
            </a:r>
            <a:endParaRPr lang="en-US" sz="1400" dirty="0"/>
          </a:p>
        </p:txBody>
      </p:sp>
      <p:sp>
        <p:nvSpPr>
          <p:cNvPr id="6" name="texto-138"/>
          <p:cNvSpPr txBox="1"/>
          <p:nvPr/>
        </p:nvSpPr>
        <p:spPr>
          <a:xfrm>
            <a:off x="6199632" y="4583311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Login recusado com mensagem em português</a:t>
            </a:r>
            <a:endParaRPr lang="en-US" sz="1400" dirty="0"/>
          </a:p>
        </p:txBody>
      </p:sp>
      <p:sp>
        <p:nvSpPr>
          <p:cNvPr id="7" name="cartao-139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40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Os erros aparecem por campo e em português. O login recusado não revela se o usuário ou a senha errou.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a empresa cadastra vantagens</a:t>
            </a:r>
            <a:endParaRPr lang="en-US" sz="3200" dirty="0"/>
          </a:p>
        </p:txBody>
      </p:sp>
      <p:pic>
        <p:nvPicPr>
          <p:cNvPr id="3" name="imagem-141" descr="Formulário com descrição, custo e f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13376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42" descr="Lista das vantagens da empres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20827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43"/>
          <p:cNvSpPr txBox="1"/>
          <p:nvPr/>
        </p:nvSpPr>
        <p:spPr>
          <a:xfrm>
            <a:off x="548640" y="3642527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Formulário com descrição, custo e foto</a:t>
            </a:r>
            <a:endParaRPr lang="en-US" sz="1400" dirty="0"/>
          </a:p>
        </p:txBody>
      </p:sp>
      <p:sp>
        <p:nvSpPr>
          <p:cNvPr id="6" name="texto-144"/>
          <p:cNvSpPr txBox="1"/>
          <p:nvPr/>
        </p:nvSpPr>
        <p:spPr>
          <a:xfrm>
            <a:off x="6199632" y="3642527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Lista das vantagens da empresa</a:t>
            </a:r>
            <a:endParaRPr lang="en-US" sz="1400" dirty="0"/>
          </a:p>
        </p:txBody>
      </p:sp>
      <p:sp>
        <p:nvSpPr>
          <p:cNvPr id="7" name="cartao-145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46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foto é validada (JPEG, PNG ou WebP, até 2 MB) e cada empresa só enxerga e exclui as próprias vantagens.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o professor envia moedas</a:t>
            </a:r>
            <a:endParaRPr lang="en-US" sz="3200" dirty="0"/>
          </a:p>
        </p:txBody>
      </p:sp>
      <p:pic>
        <p:nvPicPr>
          <p:cNvPr id="3" name="imagem-147" descr="Envio com aluno, valor e mo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86485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48" descr="Extrato do professor: saldo e envi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1924074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49"/>
          <p:cNvSpPr txBox="1"/>
          <p:nvPr/>
        </p:nvSpPr>
        <p:spPr>
          <a:xfrm>
            <a:off x="548640" y="4373618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Envio com aluno, valor e motivo</a:t>
            </a:r>
            <a:endParaRPr lang="en-US" sz="1400" dirty="0"/>
          </a:p>
        </p:txBody>
      </p:sp>
      <p:sp>
        <p:nvSpPr>
          <p:cNvPr id="6" name="texto-150"/>
          <p:cNvSpPr txBox="1"/>
          <p:nvPr/>
        </p:nvSpPr>
        <p:spPr>
          <a:xfrm>
            <a:off x="6199632" y="4373618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Extrato do professor: saldo e envios</a:t>
            </a:r>
            <a:endParaRPr lang="en-US" sz="1400" dirty="0"/>
          </a:p>
        </p:txBody>
      </p:sp>
      <p:sp>
        <p:nvSpPr>
          <p:cNvPr id="7" name="cartao-151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52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saldo é conferido antes do envio, o motivo é obrigatório e o aluno recebe um e-mail.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o aluno resgata uma vantagem</a:t>
            </a:r>
            <a:endParaRPr lang="en-US" sz="3200" dirty="0"/>
          </a:p>
        </p:txBody>
      </p:sp>
      <p:pic>
        <p:nvPicPr>
          <p:cNvPr id="3" name="imagem-153" descr="Catálogo com fotos e cus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5588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54" descr="Resgate com o código do cup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80160"/>
            <a:ext cx="5440680" cy="284218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55"/>
          <p:cNvSpPr txBox="1"/>
          <p:nvPr/>
        </p:nvSpPr>
        <p:spPr>
          <a:xfrm>
            <a:off x="548640" y="4350949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Catálogo com fotos e custos</a:t>
            </a:r>
            <a:endParaRPr lang="en-US" sz="1400" dirty="0"/>
          </a:p>
        </p:txBody>
      </p:sp>
      <p:sp>
        <p:nvSpPr>
          <p:cNvPr id="6" name="texto-156"/>
          <p:cNvSpPr txBox="1"/>
          <p:nvPr/>
        </p:nvSpPr>
        <p:spPr>
          <a:xfrm>
            <a:off x="6199632" y="4350949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Resgate com o código do cupom</a:t>
            </a:r>
            <a:endParaRPr lang="en-US" sz="1400" dirty="0"/>
          </a:p>
        </p:txBody>
      </p:sp>
      <p:sp>
        <p:nvSpPr>
          <p:cNvPr id="7" name="cartao-157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58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resgate desconta o saldo e gera o código; o botão fica desabilitado quando o saldo não cobre o custo.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extrato e cadastro do aluno</a:t>
            </a:r>
            <a:endParaRPr lang="en-US" sz="3200" dirty="0"/>
          </a:p>
        </p:txBody>
      </p:sp>
      <p:pic>
        <p:nvPicPr>
          <p:cNvPr id="3" name="imagem-159" descr="Extrato: moedas recebidas e troc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211676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160" descr="Edição do próprio cadastro (login bloqueado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165" y="1280160"/>
            <a:ext cx="4961614" cy="35661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161"/>
          <p:cNvSpPr txBox="1"/>
          <p:nvPr/>
        </p:nvSpPr>
        <p:spPr>
          <a:xfrm>
            <a:off x="548640" y="507492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Extrato: moedas recebidas e trocas</a:t>
            </a:r>
            <a:endParaRPr lang="en-US" sz="1400" dirty="0"/>
          </a:p>
        </p:txBody>
      </p:sp>
      <p:sp>
        <p:nvSpPr>
          <p:cNvPr id="6" name="texto-162"/>
          <p:cNvSpPr txBox="1"/>
          <p:nvPr/>
        </p:nvSpPr>
        <p:spPr>
          <a:xfrm>
            <a:off x="6199632" y="507492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Edição do próprio cadastro (login bloqueado)</a:t>
            </a:r>
            <a:endParaRPr lang="en-US" sz="1400" dirty="0"/>
          </a:p>
        </p:txBody>
      </p:sp>
      <p:sp>
        <p:nvSpPr>
          <p:cNvPr id="7" name="cartao-163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8" name="texto-164"/>
          <p:cNvSpPr txBox="1"/>
          <p:nvPr/>
        </p:nvSpPr>
        <p:spPr>
          <a:xfrm>
            <a:off x="822960" y="534924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Excluir o cadastro apenas o inativa: o histórico de transações é mantido e o login deixa de funcionar.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E-mails enviados pelo sistema</a:t>
            </a:r>
            <a:endParaRPr lang="en-US" sz="3200" dirty="0"/>
          </a:p>
        </p:txBody>
      </p:sp>
      <p:sp>
        <p:nvSpPr>
          <p:cNvPr id="3" name="texto-165"/>
          <p:cNvSpPr txBox="1"/>
          <p:nvPr/>
        </p:nvSpPr>
        <p:spPr>
          <a:xfrm>
            <a:off x="548640" y="1325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Aluno recebe moedas</a:t>
            </a:r>
            <a:endParaRPr lang="en-US" sz="1800" dirty="0"/>
          </a:p>
        </p:txBody>
      </p:sp>
      <p:sp>
        <p:nvSpPr>
          <p:cNvPr id="4" name="email-166"/>
          <p:cNvSpPr/>
          <p:nvPr/>
        </p:nvSpPr>
        <p:spPr>
          <a:xfrm>
            <a:off x="548640" y="1783080"/>
            <a:ext cx="3611880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o-167"/>
          <p:cNvSpPr txBox="1"/>
          <p:nvPr/>
        </p:nvSpPr>
        <p:spPr>
          <a:xfrm>
            <a:off x="777240" y="1920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aluno</a:t>
            </a:r>
            <a:endParaRPr lang="en-US" sz="1200" dirty="0"/>
          </a:p>
        </p:txBody>
      </p:sp>
      <p:sp>
        <p:nvSpPr>
          <p:cNvPr id="6" name="texto-168"/>
          <p:cNvSpPr txBox="1"/>
          <p:nvPr/>
        </p:nvSpPr>
        <p:spPr>
          <a:xfrm>
            <a:off x="777240" y="22128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Você recebeu moedas!</a:t>
            </a:r>
            <a:endParaRPr lang="en-US" sz="1500" dirty="0"/>
          </a:p>
        </p:txBody>
      </p:sp>
      <p:sp>
        <p:nvSpPr>
          <p:cNvPr id="7" name="texto-169"/>
          <p:cNvSpPr txBox="1"/>
          <p:nvPr/>
        </p:nvSpPr>
        <p:spPr>
          <a:xfrm>
            <a:off x="777240" y="27432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Você recebeu 150 moedas do professor Carlos Eduardo Silva.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Motivo: Excelente apresentação do projeto.</a:t>
            </a:r>
            <a:endParaRPr lang="en-US" sz="1400" dirty="0"/>
          </a:p>
        </p:txBody>
      </p:sp>
      <p:sp>
        <p:nvSpPr>
          <p:cNvPr id="8" name="texto-170"/>
          <p:cNvSpPr txBox="1"/>
          <p:nvPr/>
        </p:nvSpPr>
        <p:spPr>
          <a:xfrm>
            <a:off x="4297680" y="1325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Cupom do aluno</a:t>
            </a:r>
            <a:endParaRPr lang="en-US" sz="1800" dirty="0"/>
          </a:p>
        </p:txBody>
      </p:sp>
      <p:sp>
        <p:nvSpPr>
          <p:cNvPr id="9" name="email-171"/>
          <p:cNvSpPr/>
          <p:nvPr/>
        </p:nvSpPr>
        <p:spPr>
          <a:xfrm>
            <a:off x="4297680" y="1783080"/>
            <a:ext cx="3611880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o-172"/>
          <p:cNvSpPr txBox="1"/>
          <p:nvPr/>
        </p:nvSpPr>
        <p:spPr>
          <a:xfrm>
            <a:off x="4526280" y="1920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aluno</a:t>
            </a:r>
            <a:endParaRPr lang="en-US" sz="1200" dirty="0"/>
          </a:p>
        </p:txBody>
      </p:sp>
      <p:sp>
        <p:nvSpPr>
          <p:cNvPr id="11" name="texto-173"/>
          <p:cNvSpPr txBox="1"/>
          <p:nvPr/>
        </p:nvSpPr>
        <p:spPr>
          <a:xfrm>
            <a:off x="4526280" y="22128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Seu cupom de resgate</a:t>
            </a:r>
            <a:endParaRPr lang="en-US" sz="1500" dirty="0"/>
          </a:p>
        </p:txBody>
      </p:sp>
      <p:sp>
        <p:nvSpPr>
          <p:cNvPr id="12" name="texto-174"/>
          <p:cNvSpPr txBox="1"/>
          <p:nvPr/>
        </p:nvSpPr>
        <p:spPr>
          <a:xfrm>
            <a:off x="4526280" y="27432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Você trocou 60 moedas pela vantagem "Almoço completo", oferecida por Cantina Universitária.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Código do cupom: 3823V2QQ</a:t>
            </a:r>
            <a:endParaRPr lang="en-US" sz="1400" dirty="0"/>
          </a:p>
        </p:txBody>
      </p:sp>
      <p:sp>
        <p:nvSpPr>
          <p:cNvPr id="13" name="texto-175"/>
          <p:cNvSpPr txBox="1"/>
          <p:nvPr/>
        </p:nvSpPr>
        <p:spPr>
          <a:xfrm>
            <a:off x="8046720" y="1325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Conferência da empresa</a:t>
            </a:r>
            <a:endParaRPr lang="en-US" sz="1800" dirty="0"/>
          </a:p>
        </p:txBody>
      </p:sp>
      <p:sp>
        <p:nvSpPr>
          <p:cNvPr id="14" name="email-176"/>
          <p:cNvSpPr/>
          <p:nvPr/>
        </p:nvSpPr>
        <p:spPr>
          <a:xfrm>
            <a:off x="8046720" y="1783080"/>
            <a:ext cx="3611880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texto-177"/>
          <p:cNvSpPr txBox="1"/>
          <p:nvPr/>
        </p:nvSpPr>
        <p:spPr>
          <a:xfrm>
            <a:off x="8275320" y="1920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empresa</a:t>
            </a:r>
            <a:endParaRPr lang="en-US" sz="1200" dirty="0"/>
          </a:p>
        </p:txBody>
      </p:sp>
      <p:sp>
        <p:nvSpPr>
          <p:cNvPr id="16" name="texto-178"/>
          <p:cNvSpPr txBox="1"/>
          <p:nvPr/>
        </p:nvSpPr>
        <p:spPr>
          <a:xfrm>
            <a:off x="8275320" y="22128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 aluno resgatou uma vantagem</a:t>
            </a:r>
            <a:endParaRPr lang="en-US" sz="1500" dirty="0"/>
          </a:p>
        </p:txBody>
      </p:sp>
      <p:sp>
        <p:nvSpPr>
          <p:cNvPr id="17" name="texto-179"/>
          <p:cNvSpPr txBox="1"/>
          <p:nvPr/>
        </p:nvSpPr>
        <p:spPr>
          <a:xfrm>
            <a:off x="8275320" y="27432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aluno Mariana Alves Ribeiro resgatou a vantagem "Almoço completo".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Código para conferência: 3823V2QQ</a:t>
            </a:r>
            <a:endParaRPr lang="en-US" sz="1400" dirty="0"/>
          </a:p>
        </p:txBody>
      </p:sp>
      <p:sp>
        <p:nvSpPr>
          <p:cNvPr id="18" name="texto-180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envio usa SMTP (Gmail) configurado no arquivo .env. Sem credenciais, o texto aparece no log da API e nada é enviado. Os testes usam um SMTP simulado.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Segurança e regras de negócio</a:t>
            </a:r>
            <a:endParaRPr lang="en-US" sz="3200" dirty="0"/>
          </a:p>
        </p:txBody>
      </p:sp>
      <p:sp>
        <p:nvSpPr>
          <p:cNvPr id="3" name="cartao-181"/>
          <p:cNvSpPr/>
          <p:nvPr/>
        </p:nvSpPr>
        <p:spPr>
          <a:xfrm>
            <a:off x="548640" y="137160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circulo-18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o-183"/>
          <p:cNvSpPr txBox="1"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🔒</a:t>
            </a:r>
            <a:endParaRPr lang="en-US" sz="2300" dirty="0"/>
          </a:p>
        </p:txBody>
      </p:sp>
      <p:sp>
        <p:nvSpPr>
          <p:cNvPr id="6" name="texto-184"/>
          <p:cNvSpPr txBox="1"/>
          <p:nvPr/>
        </p:nvSpPr>
        <p:spPr>
          <a:xfrm>
            <a:off x="187452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Senhas com bcrypt</a:t>
            </a:r>
            <a:endParaRPr lang="en-US" sz="1900" dirty="0"/>
          </a:p>
        </p:txBody>
      </p:sp>
      <p:sp>
        <p:nvSpPr>
          <p:cNvPr id="7" name="texto-185"/>
          <p:cNvSpPr txBox="1"/>
          <p:nvPr/>
        </p:nvSpPr>
        <p:spPr>
          <a:xfrm>
            <a:off x="1874520" y="208483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Só o hash com salt é guardado no banco</a:t>
            </a:r>
            <a:endParaRPr lang="en-US" sz="1500" dirty="0"/>
          </a:p>
        </p:txBody>
      </p:sp>
      <p:sp>
        <p:nvSpPr>
          <p:cNvPr id="8" name="cartao-186"/>
          <p:cNvSpPr/>
          <p:nvPr/>
        </p:nvSpPr>
        <p:spPr>
          <a:xfrm>
            <a:off x="6172200" y="137160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9" name="circulo-187"/>
          <p:cNvSpPr/>
          <p:nvPr/>
        </p:nvSpPr>
        <p:spPr>
          <a:xfrm>
            <a:off x="6446520" y="169164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o-188"/>
          <p:cNvSpPr txBox="1"/>
          <p:nvPr/>
        </p:nvSpPr>
        <p:spPr>
          <a:xfrm>
            <a:off x="644652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🎫</a:t>
            </a:r>
            <a:endParaRPr lang="en-US" sz="2300" dirty="0"/>
          </a:p>
        </p:txBody>
      </p:sp>
      <p:sp>
        <p:nvSpPr>
          <p:cNvPr id="11" name="texto-189"/>
          <p:cNvSpPr txBox="1"/>
          <p:nvPr/>
        </p:nvSpPr>
        <p:spPr>
          <a:xfrm>
            <a:off x="749808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Token JWT por sessão</a:t>
            </a:r>
            <a:endParaRPr lang="en-US" sz="1900" dirty="0"/>
          </a:p>
        </p:txBody>
      </p:sp>
      <p:sp>
        <p:nvSpPr>
          <p:cNvPr id="12" name="texto-190"/>
          <p:cNvSpPr txBox="1"/>
          <p:nvPr/>
        </p:nvSpPr>
        <p:spPr>
          <a:xfrm>
            <a:off x="7498080" y="208483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Validade de 2 horas; perfil conferido em cada rota (401 e 403)</a:t>
            </a:r>
            <a:endParaRPr lang="en-US" sz="1500" dirty="0"/>
          </a:p>
        </p:txBody>
      </p:sp>
      <p:sp>
        <p:nvSpPr>
          <p:cNvPr id="13" name="cartao-191"/>
          <p:cNvSpPr/>
          <p:nvPr/>
        </p:nvSpPr>
        <p:spPr>
          <a:xfrm>
            <a:off x="548640" y="301752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4" name="circulo-192"/>
          <p:cNvSpPr/>
          <p:nvPr/>
        </p:nvSpPr>
        <p:spPr>
          <a:xfrm>
            <a:off x="822960" y="333756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o-193"/>
          <p:cNvSpPr txBox="1"/>
          <p:nvPr/>
        </p:nvSpPr>
        <p:spPr>
          <a:xfrm>
            <a:off x="82296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👤</a:t>
            </a:r>
            <a:endParaRPr lang="en-US" sz="2300" dirty="0"/>
          </a:p>
        </p:txBody>
      </p:sp>
      <p:sp>
        <p:nvSpPr>
          <p:cNvPr id="16" name="texto-194"/>
          <p:cNvSpPr txBox="1"/>
          <p:nvPr/>
        </p:nvSpPr>
        <p:spPr>
          <a:xfrm>
            <a:off x="1874520" y="3273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Cada um no seu cadastro</a:t>
            </a:r>
            <a:endParaRPr lang="en-US" sz="1900" dirty="0"/>
          </a:p>
        </p:txBody>
      </p:sp>
      <p:sp>
        <p:nvSpPr>
          <p:cNvPr id="17" name="texto-195"/>
          <p:cNvSpPr txBox="1"/>
          <p:nvPr/>
        </p:nvSpPr>
        <p:spPr>
          <a:xfrm>
            <a:off x="1874520" y="373075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Aluno e empresa só leem, alteram e excluem os próprios dados</a:t>
            </a:r>
            <a:endParaRPr lang="en-US" sz="1500" dirty="0"/>
          </a:p>
        </p:txBody>
      </p:sp>
      <p:sp>
        <p:nvSpPr>
          <p:cNvPr id="18" name="cartao-196"/>
          <p:cNvSpPr/>
          <p:nvPr/>
        </p:nvSpPr>
        <p:spPr>
          <a:xfrm>
            <a:off x="6172200" y="301752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9" name="circulo-197"/>
          <p:cNvSpPr/>
          <p:nvPr/>
        </p:nvSpPr>
        <p:spPr>
          <a:xfrm>
            <a:off x="6446520" y="333756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o-198"/>
          <p:cNvSpPr txBox="1"/>
          <p:nvPr/>
        </p:nvSpPr>
        <p:spPr>
          <a:xfrm>
            <a:off x="644652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🪪</a:t>
            </a:r>
            <a:endParaRPr lang="en-US" sz="2300" dirty="0"/>
          </a:p>
        </p:txBody>
      </p:sp>
      <p:sp>
        <p:nvSpPr>
          <p:cNvPr id="21" name="texto-199"/>
          <p:cNvSpPr txBox="1"/>
          <p:nvPr/>
        </p:nvSpPr>
        <p:spPr>
          <a:xfrm>
            <a:off x="7498080" y="3273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CPF e CNPJ válidos</a:t>
            </a:r>
            <a:endParaRPr lang="en-US" sz="1900" dirty="0"/>
          </a:p>
        </p:txBody>
      </p:sp>
      <p:sp>
        <p:nvSpPr>
          <p:cNvPr id="22" name="texto-200"/>
          <p:cNvSpPr txBox="1"/>
          <p:nvPr/>
        </p:nvSpPr>
        <p:spPr>
          <a:xfrm>
            <a:off x="7498080" y="373075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Dígitos verificadores conferidos; só números no banco</a:t>
            </a:r>
            <a:endParaRPr lang="en-US" sz="1500" dirty="0"/>
          </a:p>
        </p:txBody>
      </p:sp>
      <p:sp>
        <p:nvSpPr>
          <p:cNvPr id="23" name="cartao-201"/>
          <p:cNvSpPr/>
          <p:nvPr/>
        </p:nvSpPr>
        <p:spPr>
          <a:xfrm>
            <a:off x="548640" y="466344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24" name="circulo-202"/>
          <p:cNvSpPr/>
          <p:nvPr/>
        </p:nvSpPr>
        <p:spPr>
          <a:xfrm>
            <a:off x="822960" y="49834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texto-203"/>
          <p:cNvSpPr txBox="1"/>
          <p:nvPr/>
        </p:nvSpPr>
        <p:spPr>
          <a:xfrm>
            <a:off x="82296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🔁</a:t>
            </a:r>
            <a:endParaRPr lang="en-US" sz="2300" dirty="0"/>
          </a:p>
        </p:txBody>
      </p:sp>
      <p:sp>
        <p:nvSpPr>
          <p:cNvPr id="26" name="texto-204"/>
          <p:cNvSpPr txBox="1"/>
          <p:nvPr/>
        </p:nvSpPr>
        <p:spPr>
          <a:xfrm>
            <a:off x="1874520" y="49194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Saldo protegido</a:t>
            </a:r>
            <a:endParaRPr lang="en-US" sz="1900" dirty="0"/>
          </a:p>
        </p:txBody>
      </p:sp>
      <p:sp>
        <p:nvSpPr>
          <p:cNvPr id="27" name="texto-205"/>
          <p:cNvSpPr txBox="1"/>
          <p:nvPr/>
        </p:nvSpPr>
        <p:spPr>
          <a:xfrm>
            <a:off x="1874520" y="53766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Linha travada (FOR UPDATE) em envios e resgates</a:t>
            </a:r>
            <a:endParaRPr lang="en-US" sz="1500" dirty="0"/>
          </a:p>
        </p:txBody>
      </p:sp>
      <p:sp>
        <p:nvSpPr>
          <p:cNvPr id="28" name="cartao-206"/>
          <p:cNvSpPr/>
          <p:nvPr/>
        </p:nvSpPr>
        <p:spPr>
          <a:xfrm>
            <a:off x="6172200" y="466344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29" name="circulo-207"/>
          <p:cNvSpPr/>
          <p:nvPr/>
        </p:nvSpPr>
        <p:spPr>
          <a:xfrm>
            <a:off x="6446520" y="4983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o-208"/>
          <p:cNvSpPr txBox="1"/>
          <p:nvPr/>
        </p:nvSpPr>
        <p:spPr>
          <a:xfrm>
            <a:off x="644652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chemeClr val="bg1"/>
                </a:solidFill>
              </a:rPr>
              <a:t>🖼</a:t>
            </a:r>
            <a:endParaRPr lang="en-US" sz="2300" dirty="0"/>
          </a:p>
        </p:txBody>
      </p:sp>
      <p:sp>
        <p:nvSpPr>
          <p:cNvPr id="31" name="texto-209"/>
          <p:cNvSpPr txBox="1"/>
          <p:nvPr/>
        </p:nvSpPr>
        <p:spPr>
          <a:xfrm>
            <a:off x="7498080" y="49194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Foto conferida</a:t>
            </a:r>
            <a:endParaRPr lang="en-US" sz="1900" dirty="0"/>
          </a:p>
        </p:txBody>
      </p:sp>
      <p:sp>
        <p:nvSpPr>
          <p:cNvPr id="32" name="texto-210"/>
          <p:cNvSpPr txBox="1"/>
          <p:nvPr/>
        </p:nvSpPr>
        <p:spPr>
          <a:xfrm>
            <a:off x="7498080" y="53766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JPEG, PNG ou WebP, até 2 MB, validada pelo conteúdo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Testes e qualidade</a:t>
            </a:r>
            <a:endParaRPr lang="en-US" sz="3200" dirty="0"/>
          </a:p>
        </p:txBody>
      </p:sp>
      <p:sp>
        <p:nvSpPr>
          <p:cNvPr id="3" name="cartao-211"/>
          <p:cNvSpPr/>
          <p:nvPr/>
        </p:nvSpPr>
        <p:spPr>
          <a:xfrm>
            <a:off x="548640" y="1417320"/>
            <a:ext cx="361188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4" name="texto-212"/>
          <p:cNvSpPr txBox="1"/>
          <p:nvPr/>
        </p:nvSpPr>
        <p:spPr>
          <a:xfrm>
            <a:off x="548640" y="16002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204</a:t>
            </a:r>
            <a:endParaRPr lang="en-US" sz="7200" dirty="0"/>
          </a:p>
        </p:txBody>
      </p:sp>
      <p:sp>
        <p:nvSpPr>
          <p:cNvPr id="5" name="texto-213"/>
          <p:cNvSpPr txBox="1"/>
          <p:nvPr/>
        </p:nvSpPr>
        <p:spPr>
          <a:xfrm>
            <a:off x="731520" y="28803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testes do back-end</a:t>
            </a:r>
            <a:endParaRPr lang="en-US" sz="1900" dirty="0"/>
          </a:p>
        </p:txBody>
      </p:sp>
      <p:sp>
        <p:nvSpPr>
          <p:cNvPr id="6" name="texto-214"/>
          <p:cNvSpPr txBox="1"/>
          <p:nvPr/>
        </p:nvSpPr>
        <p:spPr>
          <a:xfrm>
            <a:off x="822960" y="33375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pytest: modelos, repositórios, serviços e API</a:t>
            </a:r>
            <a:endParaRPr lang="en-US" sz="1400" dirty="0"/>
          </a:p>
        </p:txBody>
      </p:sp>
      <p:sp>
        <p:nvSpPr>
          <p:cNvPr id="7" name="cartao-215"/>
          <p:cNvSpPr/>
          <p:nvPr/>
        </p:nvSpPr>
        <p:spPr>
          <a:xfrm>
            <a:off x="4297680" y="1417320"/>
            <a:ext cx="361188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8" name="texto-216"/>
          <p:cNvSpPr txBox="1"/>
          <p:nvPr/>
        </p:nvSpPr>
        <p:spPr>
          <a:xfrm>
            <a:off x="4297680" y="16002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3"/>
                </a:solidFill>
              </a:rPr>
              <a:t>147</a:t>
            </a:r>
            <a:endParaRPr lang="en-US" sz="7200" dirty="0"/>
          </a:p>
        </p:txBody>
      </p:sp>
      <p:sp>
        <p:nvSpPr>
          <p:cNvPr id="9" name="texto-217"/>
          <p:cNvSpPr txBox="1"/>
          <p:nvPr/>
        </p:nvSpPr>
        <p:spPr>
          <a:xfrm>
            <a:off x="4480560" y="28803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testes do front-end</a:t>
            </a:r>
            <a:endParaRPr lang="en-US" sz="1900" dirty="0"/>
          </a:p>
        </p:txBody>
      </p:sp>
      <p:sp>
        <p:nvSpPr>
          <p:cNvPr id="10" name="texto-218"/>
          <p:cNvSpPr txBox="1"/>
          <p:nvPr/>
        </p:nvSpPr>
        <p:spPr>
          <a:xfrm>
            <a:off x="4572000" y="33375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Vitest + Testing Library: hooks, telas e validações</a:t>
            </a:r>
            <a:endParaRPr lang="en-US" sz="1400" dirty="0"/>
          </a:p>
        </p:txBody>
      </p:sp>
      <p:sp>
        <p:nvSpPr>
          <p:cNvPr id="11" name="cartao-219"/>
          <p:cNvSpPr/>
          <p:nvPr/>
        </p:nvSpPr>
        <p:spPr>
          <a:xfrm>
            <a:off x="8046720" y="1417320"/>
            <a:ext cx="361188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2" name="texto-220"/>
          <p:cNvSpPr txBox="1"/>
          <p:nvPr/>
        </p:nvSpPr>
        <p:spPr>
          <a:xfrm>
            <a:off x="8046720" y="16002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31</a:t>
            </a:r>
            <a:endParaRPr lang="en-US" sz="7200" dirty="0"/>
          </a:p>
        </p:txBody>
      </p:sp>
      <p:sp>
        <p:nvSpPr>
          <p:cNvPr id="13" name="texto-221"/>
          <p:cNvSpPr txBox="1"/>
          <p:nvPr/>
        </p:nvSpPr>
        <p:spPr>
          <a:xfrm>
            <a:off x="8229600" y="28803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verificações no navegador</a:t>
            </a:r>
            <a:endParaRPr lang="en-US" sz="1900" dirty="0"/>
          </a:p>
        </p:txBody>
      </p:sp>
      <p:sp>
        <p:nvSpPr>
          <p:cNvPr id="14" name="texto-222"/>
          <p:cNvSpPr txBox="1"/>
          <p:nvPr/>
        </p:nvSpPr>
        <p:spPr>
          <a:xfrm>
            <a:off x="8321040" y="33375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real: cadastro, moedas, resgate e permissões</a:t>
            </a:r>
            <a:endParaRPr lang="en-US" sz="1400" dirty="0"/>
          </a:p>
        </p:txBody>
      </p:sp>
      <p:sp>
        <p:nvSpPr>
          <p:cNvPr id="15" name="texto-223"/>
          <p:cNvSpPr txBox="1"/>
          <p:nvPr/>
        </p:nvSpPr>
        <p:spPr>
          <a:xfrm>
            <a:off x="548640" y="461772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Fluxo completo conferido contra o PostgreSQL real: cadastro, login, envio de moedas, vantagem com foto, resgate e extrato.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Diagrama de classes comparado com o código por um script: 40 classes, métodos e atributos batem.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Lint e verificação de tipos limpos no front-end.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Limites conhecidos e próximos passos</a:t>
            </a:r>
            <a:endParaRPr lang="en-US" sz="3200" dirty="0"/>
          </a:p>
        </p:txBody>
      </p:sp>
      <p:sp>
        <p:nvSpPr>
          <p:cNvPr id="3" name="cartao-224"/>
          <p:cNvSpPr/>
          <p:nvPr/>
        </p:nvSpPr>
        <p:spPr>
          <a:xfrm>
            <a:off x="548640" y="141732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4" name="texto-225"/>
          <p:cNvSpPr txBox="1"/>
          <p:nvPr/>
        </p:nvSpPr>
        <p:spPr>
          <a:xfrm>
            <a:off x="822960" y="15087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E-mail real</a:t>
            </a:r>
            <a:endParaRPr lang="en-US" sz="1900" dirty="0"/>
          </a:p>
        </p:txBody>
      </p:sp>
      <p:sp>
        <p:nvSpPr>
          <p:cNvPr id="5" name="texto-226"/>
          <p:cNvSpPr txBox="1"/>
          <p:nvPr/>
        </p:nvSpPr>
        <p:spPr>
          <a:xfrm>
            <a:off x="3566160" y="1508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envio pelo Gmail depende da senha de aplicativo no .env; foi validado com SMTP simulado e pelo log.</a:t>
            </a:r>
            <a:endParaRPr lang="en-US" sz="1600" dirty="0"/>
          </a:p>
        </p:txBody>
      </p:sp>
      <p:sp>
        <p:nvSpPr>
          <p:cNvPr id="6" name="cartao-227"/>
          <p:cNvSpPr/>
          <p:nvPr/>
        </p:nvSpPr>
        <p:spPr>
          <a:xfrm>
            <a:off x="548640" y="26060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texto-228"/>
          <p:cNvSpPr txBox="1"/>
          <p:nvPr/>
        </p:nvSpPr>
        <p:spPr>
          <a:xfrm>
            <a:off x="822960" y="26974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Crédito do semestre</a:t>
            </a:r>
            <a:endParaRPr lang="en-US" sz="1900" dirty="0"/>
          </a:p>
        </p:txBody>
      </p:sp>
      <p:sp>
        <p:nvSpPr>
          <p:cNvPr id="8" name="texto-229"/>
          <p:cNvSpPr txBox="1"/>
          <p:nvPr/>
        </p:nvSpPr>
        <p:spPr>
          <a:xfrm>
            <a:off x="3566160" y="2697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um comando (python -m app.tarefas.creditar_semestre), ainda sem agendamento automático.</a:t>
            </a:r>
            <a:endParaRPr lang="en-US" sz="1600" dirty="0"/>
          </a:p>
        </p:txBody>
      </p:sp>
      <p:sp>
        <p:nvSpPr>
          <p:cNvPr id="9" name="cartao-230"/>
          <p:cNvSpPr/>
          <p:nvPr/>
        </p:nvSpPr>
        <p:spPr>
          <a:xfrm>
            <a:off x="548640" y="379476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0" name="texto-231"/>
          <p:cNvSpPr txBox="1"/>
          <p:nvPr/>
        </p:nvSpPr>
        <p:spPr>
          <a:xfrm>
            <a:off x="822960" y="38862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Sessão</a:t>
            </a:r>
            <a:endParaRPr lang="en-US" sz="1900" dirty="0"/>
          </a:p>
        </p:txBody>
      </p:sp>
      <p:sp>
        <p:nvSpPr>
          <p:cNvPr id="11" name="texto-232"/>
          <p:cNvSpPr txBox="1"/>
          <p:nvPr/>
        </p:nvSpPr>
        <p:spPr>
          <a:xfrm>
            <a:off x="3566160" y="38862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token fica no navegador; não há renovação nem recuperação de senha.</a:t>
            </a:r>
            <a:endParaRPr lang="en-US" sz="1600" dirty="0"/>
          </a:p>
        </p:txBody>
      </p:sp>
      <p:sp>
        <p:nvSpPr>
          <p:cNvPr id="12" name="cartao-233"/>
          <p:cNvSpPr/>
          <p:nvPr/>
        </p:nvSpPr>
        <p:spPr>
          <a:xfrm>
            <a:off x="548640" y="498348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3" name="texto-234"/>
          <p:cNvSpPr txBox="1"/>
          <p:nvPr/>
        </p:nvSpPr>
        <p:spPr>
          <a:xfrm>
            <a:off x="822960" y="50749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Fotos</a:t>
            </a:r>
            <a:endParaRPr lang="en-US" sz="1900" dirty="0"/>
          </a:p>
        </p:txBody>
      </p:sp>
      <p:sp>
        <p:nvSpPr>
          <p:cNvPr id="14" name="texto-235"/>
          <p:cNvSpPr txBox="1"/>
          <p:nvPr/>
        </p:nvSpPr>
        <p:spPr>
          <a:xfrm>
            <a:off x="3566160" y="50749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Ficam em um volume do Docker; em produção iriam para um armazenamento de arquivos.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Tutorial das tecnologias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O que cada ferramenta faz, por que a escolhi e como usar, com exemplos do próprio projeto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stack do projeto</a:t>
            </a:r>
            <a:endParaRPr lang="en-US" sz="3200" dirty="0"/>
          </a:p>
        </p:txBody>
      </p:sp>
      <p:sp>
        <p:nvSpPr>
          <p:cNvPr id="3" name="cartao-236"/>
          <p:cNvSpPr/>
          <p:nvPr/>
        </p:nvSpPr>
        <p:spPr>
          <a:xfrm>
            <a:off x="548640" y="14173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marcador-237"/>
          <p:cNvSpPr/>
          <p:nvPr/>
        </p:nvSpPr>
        <p:spPr>
          <a:xfrm>
            <a:off x="777240" y="1645920"/>
            <a:ext cx="320040" cy="3200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o-238"/>
          <p:cNvSpPr txBox="1"/>
          <p:nvPr/>
        </p:nvSpPr>
        <p:spPr>
          <a:xfrm>
            <a:off x="12801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Docker Compose</a:t>
            </a:r>
            <a:endParaRPr lang="en-US" sz="1900" dirty="0"/>
          </a:p>
        </p:txBody>
      </p:sp>
      <p:sp>
        <p:nvSpPr>
          <p:cNvPr id="6" name="texto-239"/>
          <p:cNvSpPr txBox="1"/>
          <p:nvPr/>
        </p:nvSpPr>
        <p:spPr>
          <a:xfrm>
            <a:off x="777240" y="21488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Sobe banco, API e front com um comando</a:t>
            </a:r>
            <a:endParaRPr lang="en-US" sz="1500" dirty="0"/>
          </a:p>
        </p:txBody>
      </p:sp>
      <p:sp>
        <p:nvSpPr>
          <p:cNvPr id="7" name="cartao-240"/>
          <p:cNvSpPr/>
          <p:nvPr/>
        </p:nvSpPr>
        <p:spPr>
          <a:xfrm>
            <a:off x="4297680" y="14173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8" name="marcador-241"/>
          <p:cNvSpPr/>
          <p:nvPr/>
        </p:nvSpPr>
        <p:spPr>
          <a:xfrm>
            <a:off x="4526280" y="164592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o-242"/>
          <p:cNvSpPr txBox="1"/>
          <p:nvPr/>
        </p:nvSpPr>
        <p:spPr>
          <a:xfrm>
            <a:off x="502920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PostgreSQL 16</a:t>
            </a:r>
            <a:endParaRPr lang="en-US" sz="1900" dirty="0"/>
          </a:p>
        </p:txBody>
      </p:sp>
      <p:sp>
        <p:nvSpPr>
          <p:cNvPr id="10" name="texto-243"/>
          <p:cNvSpPr txBox="1"/>
          <p:nvPr/>
        </p:nvSpPr>
        <p:spPr>
          <a:xfrm>
            <a:off x="4526280" y="21488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Banco relacional dos dados</a:t>
            </a:r>
            <a:endParaRPr lang="en-US" sz="1500" dirty="0"/>
          </a:p>
        </p:txBody>
      </p:sp>
      <p:sp>
        <p:nvSpPr>
          <p:cNvPr id="11" name="cartao-244"/>
          <p:cNvSpPr/>
          <p:nvPr/>
        </p:nvSpPr>
        <p:spPr>
          <a:xfrm>
            <a:off x="8046720" y="14173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2" name="marcador-245"/>
          <p:cNvSpPr/>
          <p:nvPr/>
        </p:nvSpPr>
        <p:spPr>
          <a:xfrm>
            <a:off x="8275320" y="1645920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o-246"/>
          <p:cNvSpPr txBox="1"/>
          <p:nvPr/>
        </p:nvSpPr>
        <p:spPr>
          <a:xfrm>
            <a:off x="877824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SQLAlchemy + Alembic</a:t>
            </a:r>
            <a:endParaRPr lang="en-US" sz="1900" dirty="0"/>
          </a:p>
        </p:txBody>
      </p:sp>
      <p:sp>
        <p:nvSpPr>
          <p:cNvPr id="14" name="texto-247"/>
          <p:cNvSpPr txBox="1"/>
          <p:nvPr/>
        </p:nvSpPr>
        <p:spPr>
          <a:xfrm>
            <a:off x="8275320" y="21488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ORM e migrações do esquema</a:t>
            </a:r>
            <a:endParaRPr lang="en-US" sz="1500" dirty="0"/>
          </a:p>
        </p:txBody>
      </p:sp>
      <p:sp>
        <p:nvSpPr>
          <p:cNvPr id="15" name="cartao-248"/>
          <p:cNvSpPr/>
          <p:nvPr/>
        </p:nvSpPr>
        <p:spPr>
          <a:xfrm>
            <a:off x="548640" y="30175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6" name="marcador-249"/>
          <p:cNvSpPr/>
          <p:nvPr/>
        </p:nvSpPr>
        <p:spPr>
          <a:xfrm>
            <a:off x="777240" y="3246120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o-250"/>
          <p:cNvSpPr txBox="1"/>
          <p:nvPr/>
        </p:nvSpPr>
        <p:spPr>
          <a:xfrm>
            <a:off x="128016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FastAPI + Pydantic</a:t>
            </a:r>
            <a:endParaRPr lang="en-US" sz="1900" dirty="0"/>
          </a:p>
        </p:txBody>
      </p:sp>
      <p:sp>
        <p:nvSpPr>
          <p:cNvPr id="18" name="texto-251"/>
          <p:cNvSpPr txBox="1"/>
          <p:nvPr/>
        </p:nvSpPr>
        <p:spPr>
          <a:xfrm>
            <a:off x="777240" y="3749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REST, validação e documentação</a:t>
            </a:r>
            <a:endParaRPr lang="en-US" sz="1500" dirty="0"/>
          </a:p>
        </p:txBody>
      </p:sp>
      <p:sp>
        <p:nvSpPr>
          <p:cNvPr id="19" name="cartao-252"/>
          <p:cNvSpPr/>
          <p:nvPr/>
        </p:nvSpPr>
        <p:spPr>
          <a:xfrm>
            <a:off x="4297680" y="30175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0" name="marcador-253"/>
          <p:cNvSpPr/>
          <p:nvPr/>
        </p:nvSpPr>
        <p:spPr>
          <a:xfrm>
            <a:off x="4526280" y="3246120"/>
            <a:ext cx="320040" cy="3200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o-254"/>
          <p:cNvSpPr txBox="1"/>
          <p:nvPr/>
        </p:nvSpPr>
        <p:spPr>
          <a:xfrm>
            <a:off x="502920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JWT + bcrypt</a:t>
            </a:r>
            <a:endParaRPr lang="en-US" sz="1900" dirty="0"/>
          </a:p>
        </p:txBody>
      </p:sp>
      <p:sp>
        <p:nvSpPr>
          <p:cNvPr id="22" name="texto-255"/>
          <p:cNvSpPr txBox="1"/>
          <p:nvPr/>
        </p:nvSpPr>
        <p:spPr>
          <a:xfrm>
            <a:off x="4526280" y="3749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Login, sessão e senhas protegidas</a:t>
            </a:r>
            <a:endParaRPr lang="en-US" sz="1500" dirty="0"/>
          </a:p>
        </p:txBody>
      </p:sp>
      <p:sp>
        <p:nvSpPr>
          <p:cNvPr id="23" name="cartao-256"/>
          <p:cNvSpPr/>
          <p:nvPr/>
        </p:nvSpPr>
        <p:spPr>
          <a:xfrm>
            <a:off x="8046720" y="30175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4" name="marcador-257"/>
          <p:cNvSpPr/>
          <p:nvPr/>
        </p:nvSpPr>
        <p:spPr>
          <a:xfrm>
            <a:off x="8275320" y="3246120"/>
            <a:ext cx="320040" cy="3200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5" name="texto-258"/>
          <p:cNvSpPr txBox="1"/>
          <p:nvPr/>
        </p:nvSpPr>
        <p:spPr>
          <a:xfrm>
            <a:off x="877824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React + TypeScript</a:t>
            </a:r>
            <a:endParaRPr lang="en-US" sz="1900" dirty="0"/>
          </a:p>
        </p:txBody>
      </p:sp>
      <p:sp>
        <p:nvSpPr>
          <p:cNvPr id="26" name="texto-259"/>
          <p:cNvSpPr txBox="1"/>
          <p:nvPr/>
        </p:nvSpPr>
        <p:spPr>
          <a:xfrm>
            <a:off x="8275320" y="3749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Telas, hooks e rotas</a:t>
            </a:r>
            <a:endParaRPr lang="en-US" sz="1500" dirty="0"/>
          </a:p>
        </p:txBody>
      </p:sp>
      <p:sp>
        <p:nvSpPr>
          <p:cNvPr id="27" name="cartao-260"/>
          <p:cNvSpPr/>
          <p:nvPr/>
        </p:nvSpPr>
        <p:spPr>
          <a:xfrm>
            <a:off x="548640" y="46177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8" name="marcador-261"/>
          <p:cNvSpPr/>
          <p:nvPr/>
        </p:nvSpPr>
        <p:spPr>
          <a:xfrm>
            <a:off x="777240" y="484632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o-262"/>
          <p:cNvSpPr txBox="1"/>
          <p:nvPr/>
        </p:nvSpPr>
        <p:spPr>
          <a:xfrm>
            <a:off x="1280160" y="4800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Vite + Tailwind CSS</a:t>
            </a:r>
            <a:endParaRPr lang="en-US" sz="1900" dirty="0"/>
          </a:p>
        </p:txBody>
      </p:sp>
      <p:sp>
        <p:nvSpPr>
          <p:cNvPr id="30" name="texto-263"/>
          <p:cNvSpPr txBox="1"/>
          <p:nvPr/>
        </p:nvSpPr>
        <p:spPr>
          <a:xfrm>
            <a:off x="777240" y="5349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Build rápido e estilo por classes</a:t>
            </a:r>
            <a:endParaRPr lang="en-US" sz="1500" dirty="0"/>
          </a:p>
        </p:txBody>
      </p:sp>
      <p:sp>
        <p:nvSpPr>
          <p:cNvPr id="31" name="cartao-264"/>
          <p:cNvSpPr/>
          <p:nvPr/>
        </p:nvSpPr>
        <p:spPr>
          <a:xfrm>
            <a:off x="4297680" y="46177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32" name="marcador-265"/>
          <p:cNvSpPr/>
          <p:nvPr/>
        </p:nvSpPr>
        <p:spPr>
          <a:xfrm>
            <a:off x="4526280" y="4846320"/>
            <a:ext cx="320040" cy="3200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o-266"/>
          <p:cNvSpPr txBox="1"/>
          <p:nvPr/>
        </p:nvSpPr>
        <p:spPr>
          <a:xfrm>
            <a:off x="5029200" y="4800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pytest + Vitest</a:t>
            </a:r>
            <a:endParaRPr lang="en-US" sz="1900" dirty="0"/>
          </a:p>
        </p:txBody>
      </p:sp>
      <p:sp>
        <p:nvSpPr>
          <p:cNvPr id="34" name="texto-267"/>
          <p:cNvSpPr txBox="1"/>
          <p:nvPr/>
        </p:nvSpPr>
        <p:spPr>
          <a:xfrm>
            <a:off x="4526280" y="5349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Testes automatizados do back e do front</a:t>
            </a:r>
            <a:endParaRPr lang="en-US" sz="1500" dirty="0"/>
          </a:p>
        </p:txBody>
      </p:sp>
      <p:sp>
        <p:nvSpPr>
          <p:cNvPr id="35" name="cartao-268"/>
          <p:cNvSpPr/>
          <p:nvPr/>
        </p:nvSpPr>
        <p:spPr>
          <a:xfrm>
            <a:off x="8046720" y="4617720"/>
            <a:ext cx="3611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36" name="marcador-269"/>
          <p:cNvSpPr/>
          <p:nvPr/>
        </p:nvSpPr>
        <p:spPr>
          <a:xfrm>
            <a:off x="8275320" y="4846320"/>
            <a:ext cx="320040" cy="32004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7" name="texto-270"/>
          <p:cNvSpPr txBox="1"/>
          <p:nvPr/>
        </p:nvSpPr>
        <p:spPr>
          <a:xfrm>
            <a:off x="8778240" y="4800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Chrome DevTools</a:t>
            </a:r>
            <a:endParaRPr lang="en-US" sz="1900" dirty="0"/>
          </a:p>
        </p:txBody>
      </p:sp>
      <p:sp>
        <p:nvSpPr>
          <p:cNvPr id="38" name="texto-271"/>
          <p:cNvSpPr txBox="1"/>
          <p:nvPr/>
        </p:nvSpPr>
        <p:spPr>
          <a:xfrm>
            <a:off x="8275320" y="5349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Teste da interface no navegador real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Docker e Docker Compose</a:t>
            </a:r>
            <a:endParaRPr lang="en-US" sz="3200" dirty="0"/>
          </a:p>
        </p:txBody>
      </p:sp>
      <p:sp>
        <p:nvSpPr>
          <p:cNvPr id="3" name="texto-272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273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Docker empacota cada serviço em um contêiner; o Compose descreve e liga vários contêineres em um arquivo.</a:t>
            </a:r>
            <a:endParaRPr lang="en-US" sz="1500" dirty="0"/>
          </a:p>
        </p:txBody>
      </p:sp>
      <p:sp>
        <p:nvSpPr>
          <p:cNvPr id="5" name="texto-274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275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Qualquer pessoa roda o sistema completo sem instalar Python, Node ou PostgreSQL.</a:t>
            </a:r>
            <a:endParaRPr lang="en-US" sz="1500" dirty="0"/>
          </a:p>
        </p:txBody>
      </p:sp>
      <p:sp>
        <p:nvSpPr>
          <p:cNvPr id="7" name="texto-276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277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serviços em docker-compose.yml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up -d --build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logs api para ver a API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down -v para limpar tudo</a:t>
            </a:r>
            <a:endParaRPr lang="en-US" sz="1500" dirty="0"/>
          </a:p>
        </p:txBody>
      </p:sp>
      <p:sp>
        <p:nvSpPr>
          <p:cNvPr id="9" name="painel-codigo-278"/>
          <p:cNvSpPr/>
          <p:nvPr/>
        </p:nvSpPr>
        <p:spPr>
          <a:xfrm>
            <a:off x="5577840" y="1371600"/>
            <a:ext cx="6080760" cy="37719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0" name="texto-279"/>
          <p:cNvSpPr txBox="1"/>
          <p:nvPr/>
        </p:nvSpPr>
        <p:spPr>
          <a:xfrm>
            <a:off x="5806440" y="1554480"/>
            <a:ext cx="562356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postgres:16-alpine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./src/back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db: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condition: service_healthy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command: 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 -c "alembic upgrade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python -m app.tarefas.seed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uvicorn app.main:app --port 8000"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./src/front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["5173:80"]</a:t>
            </a:r>
            <a:endParaRPr lang="en-US" sz="1300" dirty="0"/>
          </a:p>
        </p:txBody>
      </p:sp>
      <p:sp>
        <p:nvSpPr>
          <p:cNvPr id="11" name="texto-280"/>
          <p:cNvSpPr txBox="1"/>
          <p:nvPr/>
        </p:nvSpPr>
        <p:spPr>
          <a:xfrm>
            <a:off x="5577840" y="521665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docker-compose.yml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PostgreSQL e Alembic</a:t>
            </a:r>
            <a:endParaRPr lang="en-US" sz="3200" dirty="0"/>
          </a:p>
        </p:txBody>
      </p:sp>
      <p:sp>
        <p:nvSpPr>
          <p:cNvPr id="3" name="texto-281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282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PostgreSQL é um banco relacional. Alembic registra cada mudança do esquema em um arquivo de migração.</a:t>
            </a:r>
            <a:endParaRPr lang="en-US" sz="1500" dirty="0"/>
          </a:p>
        </p:txBody>
      </p:sp>
      <p:sp>
        <p:nvSpPr>
          <p:cNvPr id="5" name="texto-283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284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esquema fica versionado junto com o código e pode ser refeito em qualquer máquina.</a:t>
            </a:r>
            <a:endParaRPr lang="en-US" sz="1500" dirty="0"/>
          </a:p>
        </p:txBody>
      </p:sp>
      <p:sp>
        <p:nvSpPr>
          <p:cNvPr id="7" name="texto-285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286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as tabelas com alembic upgrade head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Mudou o modelo? Gerar uma nova migração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Voltar uma versão com alembic downgrade -1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Conferir os dados com psql no contêiner</a:t>
            </a:r>
            <a:endParaRPr lang="en-US" sz="1500" dirty="0"/>
          </a:p>
        </p:txBody>
      </p:sp>
      <p:sp>
        <p:nvSpPr>
          <p:cNvPr id="9" name="painel-codigo-287"/>
          <p:cNvSpPr/>
          <p:nvPr/>
        </p:nvSpPr>
        <p:spPr>
          <a:xfrm>
            <a:off x="5577840" y="1371600"/>
            <a:ext cx="6080760" cy="3557016"/>
          </a:xfrm>
          <a:prstGeom prst="roundRect">
            <a:avLst>
              <a:gd name="adj" fmla="val 2571"/>
            </a:avLst>
          </a:prstGeom>
          <a:solidFill>
            <a:schemeClr val="tx1"/>
          </a:solidFill>
          <a:ln/>
        </p:spPr>
      </p:sp>
      <p:sp>
        <p:nvSpPr>
          <p:cNvPr id="10" name="texto-288"/>
          <p:cNvSpPr txBox="1"/>
          <p:nvPr/>
        </p:nvSpPr>
        <p:spPr>
          <a:xfrm>
            <a:off x="5806440" y="1554480"/>
            <a:ext cx="5623560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migrations/versions/0001_modelo_inicial.py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upgrade() -&gt; None: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op.create_table(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"conta",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sa.Column("id_conta", sa.Integer(),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primary_key=True),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sa.Column("saldo", sa.Integer(),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nullable=False),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sa.CheckConstraint("saldo &gt;= 0"),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downgrade() -&gt; None: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op.drop_table("conta")</a:t>
            </a:r>
            <a:endParaRPr lang="en-US" sz="1300" dirty="0"/>
          </a:p>
        </p:txBody>
      </p:sp>
      <p:sp>
        <p:nvSpPr>
          <p:cNvPr id="11" name="texto-289"/>
          <p:cNvSpPr txBox="1"/>
          <p:nvPr/>
        </p:nvSpPr>
        <p:spPr>
          <a:xfrm>
            <a:off x="5577840" y="5001768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Trecho resumido: a restrição saldo &gt;= 0 impede saldo negativo no próprio banco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SQLAlchemy (ORM)</a:t>
            </a:r>
            <a:endParaRPr lang="en-US" sz="3200" dirty="0"/>
          </a:p>
        </p:txBody>
      </p:sp>
      <p:sp>
        <p:nvSpPr>
          <p:cNvPr id="3" name="texto-290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291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ORM mapeia classes Python em tabelas: cada objeto é uma linha e cada atributo, uma coluna.</a:t>
            </a:r>
            <a:endParaRPr lang="en-US" sz="1500" dirty="0"/>
          </a:p>
        </p:txBody>
      </p:sp>
      <p:sp>
        <p:nvSpPr>
          <p:cNvPr id="5" name="texto-292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293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Evita SQL manual, protege contra injeção de SQL e permite herança entre entidades.</a:t>
            </a:r>
            <a:endParaRPr lang="en-US" sz="1500" dirty="0"/>
          </a:p>
        </p:txBody>
      </p:sp>
      <p:sp>
        <p:nvSpPr>
          <p:cNvPr id="7" name="texto-294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295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Declarar a classe com Mapped e mapped_column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Consultar com select(...).where(...)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Gravar com session.add e flush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Herança joined: Aluno e Professor estendem Usuario</a:t>
            </a:r>
            <a:endParaRPr lang="en-US" sz="1500" dirty="0"/>
          </a:p>
        </p:txBody>
      </p:sp>
      <p:sp>
        <p:nvSpPr>
          <p:cNvPr id="9" name="painel-codigo-296"/>
          <p:cNvSpPr/>
          <p:nvPr/>
        </p:nvSpPr>
        <p:spPr>
          <a:xfrm>
            <a:off x="5577840" y="1371600"/>
            <a:ext cx="6080760" cy="3557016"/>
          </a:xfrm>
          <a:prstGeom prst="roundRect">
            <a:avLst>
              <a:gd name="adj" fmla="val 2571"/>
            </a:avLst>
          </a:prstGeom>
          <a:solidFill>
            <a:schemeClr val="tx1"/>
          </a:solidFill>
          <a:ln/>
        </p:spPr>
      </p:sp>
      <p:sp>
        <p:nvSpPr>
          <p:cNvPr id="10" name="texto-297"/>
          <p:cNvSpPr txBox="1"/>
          <p:nvPr/>
        </p:nvSpPr>
        <p:spPr>
          <a:xfrm>
            <a:off x="5806440" y="1554480"/>
            <a:ext cx="5623560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Conta(Base):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__tablename__ = "conta"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id_conta: Mapped[int] = mapped_column(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primary_key=True)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id_usuario: Mapped[int] = mapped_column(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ForeignKey("usuario.id_usuario"))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saldo: Mapped[int] = mapped_column(default=0)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debitar(self, valor: int) -&gt; bool: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valor &lt;= 0 or not self.tem_saldo(valor):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self.saldo -= valor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1300" dirty="0"/>
          </a:p>
        </p:txBody>
      </p:sp>
      <p:sp>
        <p:nvSpPr>
          <p:cNvPr id="11" name="texto-298"/>
          <p:cNvSpPr txBox="1"/>
          <p:nvPr/>
        </p:nvSpPr>
        <p:spPr>
          <a:xfrm>
            <a:off x="5577840" y="5001768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src/back/app/model/conta.py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FastAPI e Pydantic</a:t>
            </a:r>
            <a:endParaRPr lang="en-US" sz="3200" dirty="0"/>
          </a:p>
        </p:txBody>
      </p:sp>
      <p:sp>
        <p:nvSpPr>
          <p:cNvPr id="3" name="texto-299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00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FastAPI cria APIs REST em Python. Pydantic valida e converte os dados que chegam e saem.</a:t>
            </a:r>
            <a:endParaRPr lang="en-US" sz="1500" dirty="0"/>
          </a:p>
        </p:txBody>
      </p:sp>
      <p:sp>
        <p:nvSpPr>
          <p:cNvPr id="5" name="texto-301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02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Gera a documentação (/docs) sozinho, valida entradas e injeta dependências, como o usuário logado.</a:t>
            </a:r>
            <a:endParaRPr lang="en-US" sz="1500" dirty="0"/>
          </a:p>
        </p:txBody>
      </p:sp>
      <p:sp>
        <p:nvSpPr>
          <p:cNvPr id="7" name="texto-303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04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Declarar a rota com o decorador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Receber um schema Pydantic no corpo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Injetar serviço e perfil com Depends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Abrir http://localhost:8000/docs</a:t>
            </a:r>
            <a:endParaRPr lang="en-US" sz="1500" dirty="0"/>
          </a:p>
        </p:txBody>
      </p:sp>
      <p:sp>
        <p:nvSpPr>
          <p:cNvPr id="9" name="painel-codigo-305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06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@router.post("/enviar", status_code=201,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response_model=EnvioMoedasRespostaSchema)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enviar_moedas(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dados: EnvioMoedasCriarSchema,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professor: Usuario = Depends(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exigir_perfil(TipoUsuario.PROFESSOR)),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servico: ServicoMoedas = Depends(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obter_servico_moedas),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envio = servico.enviar_moedas(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professor.id_usuario, dados.model_dump())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EnvioMoedasRespostaSchema(...)</a:t>
            </a:r>
            <a:endParaRPr lang="en-US" sz="1300" dirty="0"/>
          </a:p>
        </p:txBody>
      </p:sp>
      <p:sp>
        <p:nvSpPr>
          <p:cNvPr id="11" name="texto-307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src/back/app/controller/rotas/moedas.py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Login com JWT e bcrypt</a:t>
            </a:r>
            <a:endParaRPr lang="en-US" sz="3200" dirty="0"/>
          </a:p>
        </p:txBody>
      </p:sp>
      <p:sp>
        <p:nvSpPr>
          <p:cNvPr id="3" name="texto-308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09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bcrypt guarda a senha como hash com salt. JWT é um token assinado que identifica o usuário a cada requisição.</a:t>
            </a:r>
            <a:endParaRPr lang="en-US" sz="1500" dirty="0"/>
          </a:p>
        </p:txBody>
      </p:sp>
      <p:sp>
        <p:nvSpPr>
          <p:cNvPr id="5" name="texto-310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11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servidor não guarda sessão e a senha nunca fica legível; trocar o segredo invalida todos os tokens.</a:t>
            </a:r>
            <a:endParaRPr lang="en-US" sz="1500" dirty="0"/>
          </a:p>
        </p:txBody>
      </p:sp>
      <p:sp>
        <p:nvSpPr>
          <p:cNvPr id="7" name="texto-312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13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POST /autenticacao/entrar devolve o token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O front guarda o token e o envia em Authorization: Bearer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Cada rota confere o perfil do usuário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Token inválido ou vencido: 401 e volta ao login</a:t>
            </a:r>
            <a:endParaRPr lang="en-US" sz="1500" dirty="0"/>
          </a:p>
        </p:txBody>
      </p:sp>
      <p:sp>
        <p:nvSpPr>
          <p:cNvPr id="9" name="painel-codigo-314"/>
          <p:cNvSpPr/>
          <p:nvPr/>
        </p:nvSpPr>
        <p:spPr>
          <a:xfrm>
            <a:off x="5577840" y="1371600"/>
            <a:ext cx="6080760" cy="37719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0" name="texto-315"/>
          <p:cNvSpPr txBox="1"/>
          <p:nvPr/>
        </p:nvSpPr>
        <p:spPr>
          <a:xfrm>
            <a:off x="5806440" y="1554480"/>
            <a:ext cx="562356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emitir_token(self, usuario)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agora = datetime.now(timezone.utc)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"sub": str(usuario.id_usuario),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"tipo": usuario.tipo_usuario.value,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"iat": agora,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"exp": agora + timedelta(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minutes=self.validade_minutos),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jwt.encode(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carga, self.segredo, algorithm="HS256")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model/seguranca.py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bcrypt.hashpw(senha.encode("utf-8"),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bcrypt.gensalt())</a:t>
            </a:r>
            <a:endParaRPr lang="en-US" sz="1300" dirty="0"/>
          </a:p>
        </p:txBody>
      </p:sp>
      <p:sp>
        <p:nvSpPr>
          <p:cNvPr id="11" name="texto-316"/>
          <p:cNvSpPr txBox="1"/>
          <p:nvPr/>
        </p:nvSpPr>
        <p:spPr>
          <a:xfrm>
            <a:off x="5577840" y="521665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src/back/app/service/servico_autenticacao.py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React, Vite e TypeScript</a:t>
            </a:r>
            <a:endParaRPr lang="en-US" sz="3200" dirty="0"/>
          </a:p>
        </p:txBody>
      </p:sp>
      <p:sp>
        <p:nvSpPr>
          <p:cNvPr id="3" name="texto-317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18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React monta a interface com componentes e hooks. TypeScript acrescenta tipos. Vite compila e serve o front.</a:t>
            </a:r>
            <a:endParaRPr lang="en-US" sz="1500" dirty="0"/>
          </a:p>
        </p:txBody>
      </p:sp>
      <p:sp>
        <p:nvSpPr>
          <p:cNvPr id="5" name="texto-319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20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Componentes pequenos e hooks reaproveitáveis, com erros de tipo apontados antes de rodar.</a:t>
            </a:r>
            <a:endParaRPr lang="en-US" sz="1500" dirty="0"/>
          </a:p>
        </p:txBody>
      </p:sp>
      <p:sp>
        <p:nvSpPr>
          <p:cNvPr id="7" name="texto-321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22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Uma tela é um componente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 lógica fica em hooks (useEnviarMoedas)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O roteador protege cada tela por perfil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npm run dev / test / build</a:t>
            </a:r>
            <a:endParaRPr lang="en-US" sz="1500" dirty="0"/>
          </a:p>
        </p:txBody>
      </p:sp>
      <p:sp>
        <p:nvSpPr>
          <p:cNvPr id="9" name="painel-codigo-323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24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RotaProtegida =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perfis, children }: Props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usuario } = useAutenticacao();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(!usuario)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&lt;Navigate to="/entrar" replace /&gt;;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(!perfis.includes(usuario.tipo_usuario))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&lt;Navigate to="/" replace /&gt;;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&lt;&gt;{children}&lt;/&gt;;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11" name="texto-325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src/front/src/componentes/acesso/RotaProtegida.tsx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Tailwind CSS</a:t>
            </a:r>
            <a:endParaRPr lang="en-US" sz="3200" dirty="0"/>
          </a:p>
        </p:txBody>
      </p:sp>
      <p:sp>
        <p:nvSpPr>
          <p:cNvPr id="3" name="texto-326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27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Tailwind estiliza com classes utilitárias direto no JSX: cor, espaçamento e tamanho em poucas palavras.</a:t>
            </a:r>
            <a:endParaRPr lang="en-US" sz="1500" dirty="0"/>
          </a:p>
        </p:txBody>
      </p:sp>
      <p:sp>
        <p:nvSpPr>
          <p:cNvPr id="5" name="texto-328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29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Sem arquivos de CSS soltos: o visual fica junto do componente e o resultado é pequeno (15 KB).</a:t>
            </a:r>
            <a:endParaRPr lang="en-US" sz="1500" dirty="0"/>
          </a:p>
        </p:txBody>
      </p:sp>
      <p:sp>
        <p:nvSpPr>
          <p:cNvPr id="7" name="texto-330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31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 o plugin do Vite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Importar o Tailwind no index.css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Aplicar as classes nos elementos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Reaproveitar combinações em funções</a:t>
            </a:r>
            <a:endParaRPr lang="en-US" sz="1500" dirty="0"/>
          </a:p>
        </p:txBody>
      </p:sp>
      <p:sp>
        <p:nvSpPr>
          <p:cNvPr id="9" name="painel-codigo-332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33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BASE_BOTAO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'inline-flex cursor-pointer items-center 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'justify-center rounded-lg font-semibold 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'transition disabled:opacity-60';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VARIANTES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primario: 'bg-indigo-600 text-white',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perigo: 'bg-red-500 text-white',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src/index.css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'tailwindcss';</a:t>
            </a:r>
            <a:endParaRPr lang="en-US" sz="1300" dirty="0"/>
          </a:p>
        </p:txBody>
      </p:sp>
      <p:sp>
        <p:nvSpPr>
          <p:cNvPr id="11" name="texto-334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src/front/src/utils/estilos.ts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Testes: pytest, Vitest e navegador</a:t>
            </a:r>
            <a:endParaRPr lang="en-US" sz="3200" dirty="0"/>
          </a:p>
        </p:txBody>
      </p:sp>
      <p:sp>
        <p:nvSpPr>
          <p:cNvPr id="3" name="texto-335"/>
          <p:cNvSpPr txBox="1"/>
          <p:nvPr/>
        </p:nvSpPr>
        <p:spPr>
          <a:xfrm>
            <a:off x="5486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O que é</a:t>
            </a:r>
            <a:endParaRPr lang="en-US" sz="1600" dirty="0"/>
          </a:p>
        </p:txBody>
      </p:sp>
      <p:sp>
        <p:nvSpPr>
          <p:cNvPr id="4" name="texto-336"/>
          <p:cNvSpPr txBox="1"/>
          <p:nvPr/>
        </p:nvSpPr>
        <p:spPr>
          <a:xfrm>
            <a:off x="54864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pytest e Vitest rodam testes automáticos no back e no front. Um script no Chrome percorre a interface de verdade.</a:t>
            </a:r>
            <a:endParaRPr lang="en-US" sz="1500" dirty="0"/>
          </a:p>
        </p:txBody>
      </p:sp>
      <p:sp>
        <p:nvSpPr>
          <p:cNvPr id="5" name="texto-337"/>
          <p:cNvSpPr txBox="1"/>
          <p:nvPr/>
        </p:nvSpPr>
        <p:spPr>
          <a:xfrm>
            <a:off x="54864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Por que usei</a:t>
            </a:r>
            <a:endParaRPr lang="en-US" sz="1600" dirty="0"/>
          </a:p>
        </p:txBody>
      </p:sp>
      <p:sp>
        <p:nvSpPr>
          <p:cNvPr id="6" name="texto-338"/>
          <p:cNvSpPr txBox="1"/>
          <p:nvPr/>
        </p:nvSpPr>
        <p:spPr>
          <a:xfrm>
            <a:off x="548640" y="32004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Protegem as regras de negócio e avisam na hora quando uma mudança quebra algo.</a:t>
            </a:r>
            <a:endParaRPr lang="en-US" sz="1500" dirty="0"/>
          </a:p>
        </p:txBody>
      </p:sp>
      <p:sp>
        <p:nvSpPr>
          <p:cNvPr id="7" name="texto-339"/>
          <p:cNvSpPr txBox="1"/>
          <p:nvPr/>
        </p:nvSpPr>
        <p:spPr>
          <a:xfrm>
            <a:off x="5486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Como usar</a:t>
            </a:r>
            <a:endParaRPr lang="en-US" sz="1600" dirty="0"/>
          </a:p>
        </p:txBody>
      </p:sp>
      <p:sp>
        <p:nvSpPr>
          <p:cNvPr id="8" name="texto-340"/>
          <p:cNvSpPr txBox="1"/>
          <p:nvPr/>
        </p:nvSpPr>
        <p:spPr>
          <a:xfrm>
            <a:off x="54864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docker compose exec api pytest -q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npm test na pasta do front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Repositórios falsos isolam o banco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Chrome headless confere o fluxo completo</a:t>
            </a:r>
            <a:endParaRPr lang="en-US" sz="1500" dirty="0"/>
          </a:p>
        </p:txBody>
      </p:sp>
      <p:sp>
        <p:nvSpPr>
          <p:cNvPr id="9" name="painel-codigo-341"/>
          <p:cNvSpPr/>
          <p:nvPr/>
        </p:nvSpPr>
        <p:spPr>
          <a:xfrm>
            <a:off x="5577840" y="1371600"/>
            <a:ext cx="6080760" cy="3127248"/>
          </a:xfrm>
          <a:prstGeom prst="roundRect">
            <a:avLst>
              <a:gd name="adj" fmla="val 2924"/>
            </a:avLst>
          </a:prstGeom>
          <a:solidFill>
            <a:schemeClr val="tx1"/>
          </a:solidFill>
          <a:ln/>
        </p:spPr>
      </p:sp>
      <p:sp>
        <p:nvSpPr>
          <p:cNvPr id="10" name="texto-342"/>
          <p:cNvSpPr txBox="1"/>
          <p:nvPr/>
        </p:nvSpPr>
        <p:spPr>
          <a:xfrm>
            <a:off x="5806440" y="1554480"/>
            <a:ext cx="562356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test_resgate_recusa_saldo_insuficiente(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cliente_api, cadastrar_aluno, entrar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sem_saldo = cliente_api.post(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"/moedas/resgatar",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json={"id_vantagem": id_vantagem},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headers=cab_aluno)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 sem_saldo.status_code == 422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 sem_saldo.json()["detalhe"] ==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"Saldo insuficiente: você tem 0 moedas 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"e a vantagem custa 60.")</a:t>
            </a:r>
            <a:endParaRPr lang="en-US" sz="1300" dirty="0"/>
          </a:p>
        </p:txBody>
      </p:sp>
      <p:sp>
        <p:nvSpPr>
          <p:cNvPr id="11" name="texto-343"/>
          <p:cNvSpPr txBox="1"/>
          <p:nvPr/>
        </p:nvSpPr>
        <p:spPr>
          <a:xfrm>
            <a:off x="5577840" y="45720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src/back/tests/api/test_api_moedas.py (trecho resumido e reformatado)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Obrigado!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Código, diagramas e instruções: github.com/lucaslmchaves/sistema-moeda-estudantil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 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rodar: docker compose up -d --build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Front-end em localhost:5173  |  API em localhost:8000/docs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eda Estudantil">
  <a:themeElements>
    <a:clrScheme name="Moeda Estudantil">
      <a:dk1>
        <a:srgbClr val="1E1B4B"/>
      </a:dk1>
      <a:lt1>
        <a:srgbClr val="FFFFFF"/>
      </a:lt1>
      <a:dk2>
        <a:srgbClr val="312E81"/>
      </a:dk2>
      <a:lt2>
        <a:srgbClr val="EEF2FF"/>
      </a:lt2>
      <a:accent1>
        <a:srgbClr val="4F46E5"/>
      </a:accent1>
      <a:accent2>
        <a:srgbClr val="F59E0B"/>
      </a:accent2>
      <a:accent3>
        <a:srgbClr val="059669"/>
      </a:accent3>
      <a:accent4>
        <a:srgbClr val="DC2626"/>
      </a:accent4>
      <a:accent5>
        <a:srgbClr val="0284C7"/>
      </a:accent5>
      <a:accent6>
        <a:srgbClr val="64748B"/>
      </a:accent6>
      <a:hlink>
        <a:srgbClr val="4F46E5"/>
      </a:hlink>
      <a:folHlink>
        <a:srgbClr val="6D28D9"/>
      </a:folHlink>
    </a:clrScheme>
    <a:fontScheme name="Moeda Estudanti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Moeda Estudantil - Apresentação final</dc:title>
  <dc:subject>Laboratório de Desenvolvimento de Software - Sprint 3</dc:subject>
  <dc:creator>Lucas Lima Magalhães Lafetá Chaves</dc:creator>
  <cp:lastModifiedBy>Lucas Lima Magalhães Lafetá Chaves</cp:lastModifiedBy>
  <cp:revision>1</cp:revision>
  <dcterms:created xsi:type="dcterms:W3CDTF">2026-10-24T02:43:49Z</dcterms:created>
  <dcterms:modified xsi:type="dcterms:W3CDTF">2026-10-24T02:43:49Z</dcterms:modified>
</cp:coreProperties>
</file>